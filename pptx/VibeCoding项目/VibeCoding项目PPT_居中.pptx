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0" Type="http://schemas.openxmlformats.org/officeDocument/2006/relationships/officeDocument" Target="ppt/presentation.xml"/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5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20"/>
    <p:sldId id="271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0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tableStyles" Target="tableStyles.xml"/><Relationship Id="rId18" Type="http://schemas.openxmlformats.org/officeDocument/2006/relationships/viewProps" Target="viewProps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0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&gt;&#10;  &lt;Box style={{ position: 'absolute', top: 0, left: 0, right: 0, bottom: 0, background: 'linear-gradient(135deg,#0F172A 0%, #1E3A8A 55%, #0E7490 100%)' }} /&gt;&#10;  &lt;Box style={{ position: 'absolute', top: 0, left: 0, right: 0, bottom: 0, flexDirection: 'column', justifyContent: 'center', paddingHorizontal: 100 }}&gt;&#10;    &lt;Text style={{ fontSize: 18, color: '#7DD3FC', letterSpacing: 3, fontWeight: 'bold' }}&gt;VIBE CODING 实践项目&lt;/Text&gt;&#10;    &lt;Text style={{ fontSize: 56, fontWeight: 'bold', color: '#FFFFFF', marginTop: 14 }}&gt;Lumio Music&lt;/Text&gt;&#10;    &lt;Text style={{ fontSize: 25, color: '#E0F2FE', marginTop: 10 }}&gt;鸿蒙（HarmonyOS NEXT）离线音乐播放器 · AI 辅助编程全流程实操&lt;/Text&gt;&#10;    &lt;Box style={{ marginTop: 30, flexDirection: 'row', alignItems: 'center', gap: 14 }}&gt;&#10;      &lt;Box style={{ paddingHorizontal: 16, paddingVertical: 7, background: 'rgba(245,158,11,0.18)', border: '1px solid #F59E0B', borderRadius: 20 }}&gt;&#10;        &lt;Text style={{ fontSize: 15, color: '#FCD34D', fontWeight: 'bold' }}&gt;【独立完成】&lt;/Text&gt;&#10;      &lt;/Box&gt;&#10;      &lt;Text style={{ fontSize: 16, color: '#BAE6FD' }}&gt;何宇翔 · 桂林电子科技大学 · 网络工程 2025 级&lt;/Text&gt;&#10;    &lt;/Box&gt;&#10;  &lt;/Box&gt;&#10;  &lt;Box style={{ position: 'absolute', bottom: 40, left: 100, right: 100, flexDirection: 'row', justifyContent: 'space-between', alignItems: 'center' }}&gt;&#10;    &lt;Text style={{ fontSize: 13, color: '#94A3B8' }}&gt;提交命名：群聊-姓名-VibeCoding项目PPT&lt;/Text&gt;&#10;    &lt;Text style={{ fontSize: 13, color: '#94A3B8' }}&gt;202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72A"/>
              </a:gs>
              <a:gs pos="55000">
                <a:srgbClr val="1E3A8A"/>
              </a:gs>
              <a:gs pos="100000">
                <a:srgbClr val="0E749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" name="" descr="{&quot;isTemplate&quot;:true,&quot;type&quot;:&quot;text&quot;}"/>
          <p:cNvSpPr txBox="1"/>
          <p:nvPr/>
        </p:nvSpPr>
        <p:spPr>
          <a:xfrm rot="0" flipH="0" flipV="0">
            <a:off x="0" y="2505075"/>
            <a:ext cx="12192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 spc="225">
                <a:solidFill>
                  <a:srgbClr val="7DD3FC"/>
                </a:solidFill>
                <a:latin typeface="Microsoft YaHei"/>
                <a:ea typeface="Microsoft YaHei"/>
              </a:rPr>
              <a:t>VIBE CODING </a:t>
            </a:r>
            <a:r>
              <a:rPr lang="zh-CN" sz="1350" b="1" spc="225">
                <a:solidFill>
                  <a:srgbClr val="7DD3FC"/>
                </a:solidFill>
                <a:latin typeface="Microsoft YaHei"/>
                <a:ea typeface="Microsoft YaHei"/>
              </a:rPr>
              <a:t>实践项目</a:t>
            </a:r>
            <a:endParaRPr/>
          </a:p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0" y="2847975"/>
            <a:ext cx="121920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FFFFFF"/>
                </a:solidFill>
                <a:latin typeface="Microsoft YaHei"/>
                <a:ea typeface="Microsoft YaHei"/>
              </a:rPr>
              <a:t>Lumio Music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0" y="3590925"/>
            <a:ext cx="121920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>
                <a:solidFill>
                  <a:srgbClr val="E0F2FE"/>
                </a:solidFill>
                <a:latin typeface="Microsoft YaHei"/>
                <a:ea typeface="Microsoft YaHei"/>
              </a:rPr>
              <a:t>鸿蒙（</a:t>
            </a:r>
            <a:r>
              <a:rPr lang="en-US" sz="1875">
                <a:solidFill>
                  <a:srgbClr val="E0F2FE"/>
                </a:solidFill>
                <a:latin typeface="Microsoft YaHei"/>
                <a:ea typeface="Microsoft YaHei"/>
              </a:rPr>
              <a:t>HarmonyOS NEXT</a:t>
            </a:r>
            <a:r>
              <a:rPr lang="zh-CN" sz="1875">
                <a:solidFill>
                  <a:srgbClr val="E0F2FE"/>
                </a:solidFill>
                <a:latin typeface="Microsoft YaHei"/>
                <a:ea typeface="Microsoft YaHei"/>
              </a:rPr>
              <a:t>）离线音乐播放器</a:t>
            </a:r>
            <a:r>
              <a:rPr lang="en-US" sz="1875">
                <a:solidFill>
                  <a:srgbClr val="E0F2FE"/>
                </a:solidFill>
                <a:latin typeface="Microsoft YaHei"/>
                <a:ea typeface="Microsoft YaHei"/>
              </a:rPr>
              <a:t> · AI </a:t>
            </a:r>
            <a:r>
              <a:rPr lang="zh-CN" sz="1875">
                <a:solidFill>
                  <a:srgbClr val="E0F2FE"/>
                </a:solidFill>
                <a:latin typeface="Microsoft YaHei"/>
                <a:ea typeface="Microsoft YaHei"/>
              </a:rPr>
              <a:t>辅助编程全流程实操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0" y="4171950"/>
            <a:ext cx="857250" cy="171450"/>
          </a:xfrm>
          <a:prstGeom prst="roundRect">
            <a:avLst>
              <a:gd name="adj" fmla="val 111111"/>
            </a:avLst>
          </a:prstGeom>
          <a:solidFill>
            <a:srgbClr val="F59E0B">
              <a:alpha val="18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0" y="417195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CD34D"/>
                </a:solidFill>
                <a:latin typeface="Microsoft YaHei"/>
                <a:ea typeface="Microsoft YaHei"/>
              </a:rPr>
              <a:t>【独立完成】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990600" y="4162425"/>
            <a:ext cx="3143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BAE6FD"/>
                </a:solidFill>
                <a:latin typeface="Microsoft YaHei"/>
                <a:ea typeface="Microsoft YaHei"/>
              </a:rPr>
              <a:t>何宇翔</a:t>
            </a:r>
            <a:r>
              <a:rPr lang="en-US" sz="1200">
                <a:solidFill>
                  <a:srgbClr val="BAE6FD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BAE6FD"/>
                </a:solidFill>
                <a:latin typeface="Microsoft YaHei"/>
                <a:ea typeface="Microsoft YaHei"/>
              </a:rPr>
              <a:t>桂林电子科技大学</a:t>
            </a:r>
            <a:r>
              <a:rPr lang="en-US" sz="1200">
                <a:solidFill>
                  <a:srgbClr val="BAE6FD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BAE6FD"/>
                </a:solidFill>
                <a:latin typeface="Microsoft YaHei"/>
                <a:ea typeface="Microsoft YaHei"/>
              </a:rPr>
              <a:t>网络工程</a:t>
            </a:r>
            <a:r>
              <a:rPr lang="en-US" sz="1200">
                <a:solidFill>
                  <a:srgbClr val="BAE6FD"/>
                </a:solidFill>
                <a:latin typeface="Microsoft YaHei"/>
                <a:ea typeface="Microsoft YaHei"/>
              </a:rPr>
              <a:t> 2025 </a:t>
            </a:r>
            <a:r>
              <a:rPr lang="zh-CN" sz="1200">
                <a:solidFill>
                  <a:srgbClr val="BAE6FD"/>
                </a:solidFill>
                <a:latin typeface="Microsoft YaHei"/>
                <a:ea typeface="Microsoft YaHei"/>
              </a:rPr>
              <a:t>级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952500" y="6324600"/>
            <a:ext cx="2390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提交命名：群聊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-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姓名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-VibeCoding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项目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PPT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10944225" y="6324600"/>
            <a:ext cx="2952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2026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91" name="" descr="&lt;Slide&gt;&#10;  &lt;Box style={{ flex: 1, justifyContent: 'center', paddingHorizontal: 80 }}&gt;&#10;    &lt;Box style={{ flexDirection: 'row', alignItems: 'center', gap: 16, marginBottom: 28 }}&gt;&#10;      &lt;Box style={{ width: 6, height: 40, background: 'linear-gradient(180deg,#3B82F6,#06B6D4)', borderRadius: 3 }} /&gt;&#10;      &lt;Box style={{ flexDirection: 'column' }}&gt;&#10;        &lt;Text style={{ fontSize: 13, color: '#06B6D4', fontWeight: 'bold', letterSpacing: 2 }}&gt;CONTENTS&lt;/Text&gt;&#10;        &lt;Text style={{ fontSize: 30, fontWeight: 'bold', color: '#1E293B' }}&gt;内容导览&lt;/Text&gt;&#10;      &lt;/Box&gt;&#10;    &lt;/Box&gt;&#10;&#10;    &lt;Box style={{ flexDirection: 'row', flexWrap: 'wrap', gap: 20 }}&gt;&#10;      &lt;Box style={{ width: '31%', background: '#F8FAFC', border: '1px solid #E2E8F0', borderRadius: 14, padding: 22 }}&gt;&#10;        &lt;Text style={{ fontSize: 28, fontWeight: 'bold', color: '#3B82F6' }}&gt;01&lt;/Text&gt;&#10;        &lt;Text style={{ fontSize: 18, fontWeight: 'bold', color: '#1E293B', marginTop: 8 }}&gt;项目背景与准备&lt;/Text&gt;&#10;        &lt;Text style={{ fontSize: 14, color: '#64748B', marginTop: 6, lineHeight: 1.5 }}&gt;选题来源 · 开发环境 · 目标定义&lt;/Text&gt;&#10;      &lt;/Box&gt;&#10;      &lt;Box style={{ width: '31%', background: '#F8FAFC', border: '1px solid #E2E8F0', borderRadius: 14, padding: 22 }}&gt;&#10;        &lt;Text style={{ fontSize: 28, fontWeight: 'bold', color: '#3B82F6' }}&gt;02&lt;/Text&gt;&#10;        &lt;Text style={{ fontSize: 18, fontWeight: 'bold', color: '#1E293B', marginTop: 8 }}&gt;VibeCoding 开发过程&lt;/Text&gt;&#10;        &lt;Text style={{ fontSize: 14, color: '#64748B', marginTop: 6, lineHeight: 1.5 }}&gt;Prompt 迭代 · 模块实现 · 调试&lt;/Text&gt;&#10;      &lt;/Box&gt;&#10;      &lt;Box style={{ width: '31%', background: '#F8FAFC', border: '1px solid #E2E8F0', borderRadius: 14, padding: 22 }}&gt;&#10;        &lt;Text style={{ fontSize: 28, fontWeight: 'bold', color: '#3B82F6' }}&gt;03&lt;/Text&gt;&#10;        &lt;Text style={{ fontSize: 18, fontWeight: 'bold', color: '#1E293B', marginTop: 8 }}&gt;项目成果展示&lt;/Text&gt;&#10;        &lt;Text style={{ fontSize: 14, color: '#64748B', marginTop: 6, lineHeight: 1.5 }}&gt;功能验证 · 演示视频 · UI 交互&lt;/Text&gt;&#10;      &lt;/Box&gt;&#10;      &lt;Box style={{ width: '31%', background: '#F8FAFC', border: '1px solid #E2E8F0', borderRadius: 14, padding: 22 }}&gt;&#10;        &lt;Text style={{ fontSize: 28, fontWeight: 'bold', color: '#06B6D4' }}&gt;04&lt;/Text&gt;&#10;        &lt;Text style={{ fontSize: 18, fontWeight: 'bold', color: '#1E293B', marginTop: 8 }}&gt;方法论总结&lt;/Text&gt;&#10;        &lt;Text style={{ fontSize: 14, color: '#64748B', marginTop: 6, lineHeight: 1.5 }}&gt;Prompt 经验 · 效率对比 · 反思&lt;/Text&gt;&#10;      &lt;/Box&gt;&#10;      &lt;Box style={{ width: '31%', background: '#F8FAFC', border: '1px solid #E2E8F0', borderRadius: 14, padding: 22 }}&gt;&#10;        &lt;Text style={{ fontSize: 28, fontWeight: 'bold', color: '#06B6D4' }}&gt;05&lt;/Text&gt;&#10;        &lt;Text style={{ fontSize: 18, fontWeight: 'bold', color: '#1E293B', marginTop: 8 }}&gt;技术创新点&lt;/Text&gt;&#10;        &lt;Text style={{ fontSize: 14, color: '#64748B', marginTop: 6, lineHeight: 1.5 }}&gt;多 Agent 评审 · NAPI 兜底 · 自修复&lt;/Text&gt;&#10;      &lt;/Box&gt;&#10;      &lt;Box style={{ width: '31%', background: '#F8FAFC', border: '1px solid #E2E8F0', borderRadius: 14, padding: 22 }}&gt;&#10;        &lt;Text style={{ fontSize: 28, fontWeight: 'bold', color: '#F59E0B' }}&gt;06&lt;/Text&gt;&#10;        &lt;Text style={{ fontSize: 18, fontWeight: 'bold', color: '#1E293B', marginTop: 8 }}&gt;扩展任务&lt;/Text&gt;&#10;        &lt;Text style={{ fontSize: 14, color: '#64748B', marginTop: 6, lineHeight: 1.5 }}&gt;完整用户文档 / README&lt;/Text&gt;&#10;      &lt;/Box&gt;&#10;    &lt;/Box&gt;&#10;  &lt;/Box&gt;&#10;&#10;  &lt;Box style={{ position: 'absolute', bottom: 0, left: 0, right: 0, height: 56, paddingHorizontal: 80, flexDirection: 'row', justifyContent: 'space-between', alignItems: 'center' }}&gt;&#10;    &lt;Text style={{ fontSize: 13, color: '#94A3B8' }}&gt;VibeCoding 实践项目 · Lumio Music&lt;/Text&gt;&#10;    &lt;Text style={{ fontSize: 13, color: '#94A3B8' }}&gt;02 / 1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"/>
          <p:cNvSpPr/>
          <p:nvPr/>
        </p:nvSpPr>
        <p:spPr>
          <a:xfrm rot="0" flipH="0" flipV="0">
            <a:off x="0" y="1676400"/>
            <a:ext cx="57150" cy="381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06B6D4"/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209550" y="1619250"/>
            <a:ext cx="1143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50">
                <a:solidFill>
                  <a:srgbClr val="06B6D4"/>
                </a:solidFill>
                <a:latin typeface="Microsoft YaHei"/>
                <a:ea typeface="Microsoft YaHei"/>
              </a:rPr>
              <a:t>CONTENTS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209550" y="1771650"/>
            <a:ext cx="1143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E293B"/>
                </a:solidFill>
                <a:latin typeface="Microsoft YaHei"/>
                <a:ea typeface="Microsoft YaHei"/>
              </a:rPr>
              <a:t>内容导览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0" y="2381250"/>
            <a:ext cx="3781425" cy="13335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209550" y="2590800"/>
            <a:ext cx="336232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3B82F6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209550" y="2990850"/>
            <a:ext cx="33623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293B"/>
                </a:solidFill>
                <a:latin typeface="Microsoft YaHei"/>
                <a:ea typeface="Microsoft YaHei"/>
              </a:rPr>
              <a:t>项目背景与准备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209550" y="3257550"/>
            <a:ext cx="336232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选题来源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开发环境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目标定义</a:t>
            </a:r>
            <a:endParaRPr/>
          </a:p>
        </p:txBody>
      </p:sp>
      <p:sp>
        <p:nvSpPr>
          <p:cNvPr id="99" name=""/>
          <p:cNvSpPr/>
          <p:nvPr/>
        </p:nvSpPr>
        <p:spPr>
          <a:xfrm rot="0" flipH="0" flipV="0">
            <a:off x="3971925" y="2381250"/>
            <a:ext cx="3781425" cy="13335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4181475" y="2590800"/>
            <a:ext cx="336232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3B82F6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4181475" y="2990850"/>
            <a:ext cx="33623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E293B"/>
                </a:solidFill>
                <a:latin typeface="Microsoft YaHei"/>
                <a:ea typeface="Microsoft YaHei"/>
              </a:rPr>
              <a:t>VibeCoding </a:t>
            </a:r>
            <a:r>
              <a:rPr lang="zh-CN" sz="1350" b="1">
                <a:solidFill>
                  <a:srgbClr val="1E293B"/>
                </a:solidFill>
                <a:latin typeface="Microsoft YaHei"/>
                <a:ea typeface="Microsoft YaHei"/>
              </a:rPr>
              <a:t>开发过程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4181475" y="3257550"/>
            <a:ext cx="336232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Prompt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迭代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模块实现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调试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7943850" y="2381250"/>
            <a:ext cx="3771900" cy="13335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8153400" y="2590800"/>
            <a:ext cx="33528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3B82F6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8153400" y="2990850"/>
            <a:ext cx="3352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293B"/>
                </a:solidFill>
                <a:latin typeface="Microsoft YaHei"/>
                <a:ea typeface="Microsoft YaHei"/>
              </a:rPr>
              <a:t>项目成果展示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8153400" y="3257550"/>
            <a:ext cx="33528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功能验证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演示视频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· UI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交互</a:t>
            </a:r>
            <a:endParaRPr/>
          </a:p>
        </p:txBody>
      </p:sp>
      <p:sp>
        <p:nvSpPr>
          <p:cNvPr id="107" name=""/>
          <p:cNvSpPr/>
          <p:nvPr/>
        </p:nvSpPr>
        <p:spPr>
          <a:xfrm rot="0" flipH="0" flipV="0">
            <a:off x="0" y="3905250"/>
            <a:ext cx="3781425" cy="13335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209550" y="4114800"/>
            <a:ext cx="336232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06B6D4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209550" y="4514850"/>
            <a:ext cx="33623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293B"/>
                </a:solidFill>
                <a:latin typeface="Microsoft YaHei"/>
                <a:ea typeface="Microsoft YaHei"/>
              </a:rPr>
              <a:t>方法论总结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209550" y="4781550"/>
            <a:ext cx="336232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Prompt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经验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效率对比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反思</a:t>
            </a:r>
            <a:endParaRPr/>
          </a:p>
        </p:txBody>
      </p:sp>
      <p:sp>
        <p:nvSpPr>
          <p:cNvPr id="111" name=""/>
          <p:cNvSpPr/>
          <p:nvPr/>
        </p:nvSpPr>
        <p:spPr>
          <a:xfrm rot="0" flipH="0" flipV="0">
            <a:off x="3971925" y="3905250"/>
            <a:ext cx="3781425" cy="13335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4181475" y="4114800"/>
            <a:ext cx="336232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06B6D4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4181475" y="4514850"/>
            <a:ext cx="33623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293B"/>
                </a:solidFill>
                <a:latin typeface="Microsoft YaHei"/>
                <a:ea typeface="Microsoft YaHei"/>
              </a:rPr>
              <a:t>技术创新点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4181475" y="4781550"/>
            <a:ext cx="336232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多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Agent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评审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· NAPI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兜底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自修复</a:t>
            </a:r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7943850" y="3905250"/>
            <a:ext cx="3771900" cy="13335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8153400" y="4114800"/>
            <a:ext cx="33528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59E0B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8153400" y="4514850"/>
            <a:ext cx="3352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293B"/>
                </a:solidFill>
                <a:latin typeface="Microsoft YaHei"/>
                <a:ea typeface="Microsoft YaHei"/>
              </a:rPr>
              <a:t>扩展任务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8153400" y="4781550"/>
            <a:ext cx="33528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完整用户文档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/ README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0" y="6515100"/>
            <a:ext cx="2085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VibeCoding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实践项目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 · Lumio Music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11772900" y="65151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02 / 14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21" name="" descr="&lt;Slide&gt;&#10;  &lt;Box style={{ flexDirection: 'row', alignItems: 'center', gap: 16, paddingHorizontal: 80, paddingTop: 30 }}&gt;&#10;    &lt;Box style={{ width: 6, height: 40, background: 'linear-gradient(180deg,#3B82F6,#06B6D4)', borderRadius: 3 }} /&gt;&#10;    &lt;Box style={{ flexDirection: 'column' }}&gt;&#10;      &lt;Text style={{ fontSize: 13, color: '#06B6D4', fontWeight: 'bold', letterSpacing: 2 }}&gt;MODULE 2.1 · 项目前期准备&lt;/Text&gt;&#10;      &lt;Text style={{ fontSize: 30, fontWeight: 'bold', color: '#1E293B' }}&gt;项目背景与选题&lt;/Text&gt;&#10;    &lt;/Box&gt;&#10;  &lt;/Box&gt;&#10;&#10;  &lt;Box style={{ flex: 1, flexDirection: 'column', justifyContent: 'center', paddingHorizontal: 80 }}&gt;&#10;    &lt;Box style={{ flexDirection: 'row', gap: 24 }}&gt;&#10;      &lt;Box style={{ width: '32%', background: '#F8FAFC', border: '1px solid #E2E8F0', borderRadius: 14, padding: 24 }}&gt;&#10;        &lt;Text style={{ fontSize: 17, fontWeight: 'bold', color: '#3B82F6' }}&gt;选题来源&lt;/Text&gt;&#10;        &lt;Text style={{ fontSize: 15, color: '#475569', marginTop: 10, lineHeight: 1.65 }}&gt;腾讯 AI Coding 大模型编程（2607 期）结课项目，方向自选。结合个人对 HarmonyOS 生态的兴趣，选定「本地离线音乐播放器」作为载体，既有明确需求，又足以覆盖 ArkTS + C++ NAPI + MediaKit 的完整工程链路。&lt;/Text&gt;&#10;      &lt;/Box&gt;&#10;      &lt;Box style={{ width: '32%', background: '#F8FAFC', border: '1px solid #E2E8F0', borderRadius: 14, padding: 24 }}&gt;&#10;        &lt;Text style={{ fontSize: 17, fontWeight: 'bold', color: '#3B82F6' }}&gt;核心问题与场景&lt;/Text&gt;&#10;        &lt;Text style={{ fontSize: 15, color: '#475569', marginTop: 10, lineHeight: 1.65 }}&gt;手机本地音乐缺乏统一、隐私友好的管理入口；在线播放器依赖网络、广告多。用户需要「离线、无上传、本地优先」的播放体验——导入本地文件即可管理、播放、收藏，数据不出端。&lt;/Text&gt;&#10;      &lt;/Box&gt;&#10;      &lt;Box style={{ width: '32%', background: '#F8FAFC', border: '1px solid #E2E8F0', borderRadius: 14, padding: 24 }}&gt;&#10;        &lt;Text style={{ fontSize: 17, fontWeight: 'bold', color: '#3B82F6' }}&gt;为何选 VibeCoding&lt;/Text&gt;&#10;        &lt;Text style={{ fontSize: 15, color: '#475569', marginTop: 10, lineHeight: 1.65 }}&gt;需求清晰但工程量大（跨语言、跨 Kit）。用自然语言驱动 + 多 Agent 协作，可快速搭建并迭代，把精力集中在产品创意与体验，而非样板代码与重复调试。&lt;/Text&gt;&#10;      &lt;/Box&gt;&#10;    &lt;/Box&gt;&#10;  &lt;/Box&gt;&#10;&#10;  &lt;Box style={{ position: 'absolute', bottom: 0, left: 0, right: 0, height: 56, paddingHorizontal: 80, flexDirection: 'row', justifyContent: 'space-between', alignItems: 'center' }}&gt;&#10;    &lt;Text style={{ fontSize: 13, color: '#94A3B8' }}&gt;VibeCoding 实践项目 · Lumio Music&lt;/Text&gt;&#10;    &lt;Text style={{ fontSize: 13, color: '#94A3B8' }}&gt;03 / 1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"/>
          <p:cNvSpPr/>
          <p:nvPr/>
        </p:nvSpPr>
        <p:spPr>
          <a:xfrm rot="0" flipH="0" flipV="0">
            <a:off x="0" y="342900"/>
            <a:ext cx="57150" cy="381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06B6D4"/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209550" y="285750"/>
            <a:ext cx="2028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50">
                <a:solidFill>
                  <a:srgbClr val="06B6D4"/>
                </a:solidFill>
                <a:latin typeface="Microsoft YaHei"/>
                <a:ea typeface="Microsoft YaHei"/>
              </a:rPr>
              <a:t>MODULE 2.1 · </a:t>
            </a:r>
            <a:r>
              <a:rPr lang="zh-CN" sz="975" b="1" spc="150">
                <a:solidFill>
                  <a:srgbClr val="06B6D4"/>
                </a:solidFill>
                <a:latin typeface="Microsoft YaHei"/>
                <a:ea typeface="Microsoft YaHei"/>
              </a:rPr>
              <a:t>项目前期准备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209550" y="438150"/>
            <a:ext cx="20288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E293B"/>
                </a:solidFill>
                <a:latin typeface="Microsoft YaHei"/>
                <a:ea typeface="Microsoft YaHei"/>
              </a:rPr>
              <a:t>项目背景与选题</a:t>
            </a:r>
            <a:endParaRPr/>
          </a:p>
        </p:txBody>
      </p:sp>
      <p:sp>
        <p:nvSpPr>
          <p:cNvPr id="125" name=""/>
          <p:cNvSpPr/>
          <p:nvPr/>
        </p:nvSpPr>
        <p:spPr>
          <a:xfrm rot="0" flipH="0" flipV="0">
            <a:off x="0" y="2733675"/>
            <a:ext cx="3905250" cy="2171700"/>
          </a:xfrm>
          <a:prstGeom prst="roundRect">
            <a:avLst>
              <a:gd name="adj" fmla="val 614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228600" y="2962275"/>
            <a:ext cx="3448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3B82F6"/>
                </a:solidFill>
                <a:latin typeface="Microsoft YaHei"/>
                <a:ea typeface="Microsoft YaHei"/>
              </a:rPr>
              <a:t>选题来源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228600" y="3257550"/>
            <a:ext cx="3448050" cy="1419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腾讯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> AI Coding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大模型编程（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>2607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期）结课项目，方向自选。结合个人对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> HarmonyOS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生态的兴趣，选定「本地离线音乐播放器」作为载体，既有明确需求，又足以覆盖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> ArkTS + C++ NAPI + MediaKit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的完整工程链路。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4133850" y="2733675"/>
            <a:ext cx="3895725" cy="2171700"/>
          </a:xfrm>
          <a:prstGeom prst="roundRect">
            <a:avLst>
              <a:gd name="adj" fmla="val 614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4362450" y="2962275"/>
            <a:ext cx="34385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3B82F6"/>
                </a:solidFill>
                <a:latin typeface="Microsoft YaHei"/>
                <a:ea typeface="Microsoft YaHei"/>
              </a:rPr>
              <a:t>核心问题与场景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4362450" y="3257550"/>
            <a:ext cx="3438525" cy="1133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手机本地音乐缺乏统一、隐私友好的管理入口；在线播放器依赖网络、广告多。用户需要「离线、无上传、本地优先」的播放体验——导入本地文件即可管理、播放、收藏，数据不出端。</a:t>
            </a:r>
            <a:endParaRPr/>
          </a:p>
        </p:txBody>
      </p:sp>
      <p:sp>
        <p:nvSpPr>
          <p:cNvPr id="131" name=""/>
          <p:cNvSpPr/>
          <p:nvPr/>
        </p:nvSpPr>
        <p:spPr>
          <a:xfrm rot="0" flipH="0" flipV="0">
            <a:off x="8258175" y="2733675"/>
            <a:ext cx="3905250" cy="2171700"/>
          </a:xfrm>
          <a:prstGeom prst="roundRect">
            <a:avLst>
              <a:gd name="adj" fmla="val 614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8486775" y="2962275"/>
            <a:ext cx="3448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3B82F6"/>
                </a:solidFill>
                <a:latin typeface="Microsoft YaHei"/>
                <a:ea typeface="Microsoft YaHei"/>
              </a:rPr>
              <a:t>为何选</a:t>
            </a:r>
            <a:r>
              <a:rPr lang="en-US" sz="1275" b="1">
                <a:solidFill>
                  <a:srgbClr val="3B82F6"/>
                </a:solidFill>
                <a:latin typeface="Microsoft YaHei"/>
                <a:ea typeface="Microsoft YaHei"/>
              </a:rPr>
              <a:t> VibeCoding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8486775" y="3257550"/>
            <a:ext cx="3448050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需求清晰但工程量大（跨语言、跨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> Kit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）。用自然语言驱动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> +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多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> Agent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协作，可快速搭建并迭代，把精力集中在产品创意与体验，而非样板代码与重复调试。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0" y="6515100"/>
            <a:ext cx="2085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VibeCoding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实践项目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 · Lumio Music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11772900" y="65151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03 / 14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36" name="" descr="&lt;Slide&gt;&#10;  &lt;Box style={{ flexDirection: 'row', alignItems: 'center', gap: 16, paddingHorizontal: 80, paddingTop: 30 }}&gt;&#10;    &lt;Box style={{ width: 6, height: 40, background: 'linear-gradient(180deg,#3B82F6,#06B6D4)', borderRadius: 3 }} /&gt;&#10;    &lt;Box style={{ flexDirection: 'column' }}&gt;&#10;      &lt;Text style={{ fontSize: 13, color: '#06B6D4', fontWeight: 'bold', letterSpacing: 2 }}&gt;MODULE 2.1 · 项目前期准备&lt;/Text&gt;&#10;      &lt;Text style={{ fontSize: 30, fontWeight: 'bold', color: '#1E293B' }}&gt;开发环境与目标定义&lt;/Text&gt;&#10;    &lt;/Box&gt;&#10;  &lt;/Box&gt;&#10;&#10;  &lt;Box style={{ flex: 1, flexDirection: 'row', alignItems: 'center', paddingHorizontal: 80, gap: 28 }}&gt;&#10;    &lt;Box style={{ width: '46%' }}&gt;&#10;      &lt;Text style={{ fontSize: 17, fontWeight: 'bold', color: '#1E293B', marginBottom: 10 }}&gt;AI 工具 · 语言框架 · 环境&lt;/Text&gt;&#10;      &lt;Box style={{ background: '#F8FAFC', border: '1px solid #E2E8F0', borderRadius: 12, padding: 18, marginBottom: 14 }}&gt;&#10;        &lt;Text style={{ fontSize: 14, color: '#475569', lineHeight: 1.6 }}&gt;&lt;Text style={{ fontWeight: 'bold', color: '#3B82F6' }}&gt;AI 编程工具：&lt;/Text&gt;WorkBuddy 多 Agent（/harmonyos-developer 开发、/harmonyos-reviewer 审查、/harmonyos-pm 规划），自然语言驱动。&lt;/Text&gt;&#10;        &lt;Text style={{ fontSize: 14, color: '#475569', lineHeight: 1.6, marginTop: 6 }}&gt;&lt;Text style={{ fontWeight: 'bold', color: '#3B82F6' }}&gt;语言 / 框架：&lt;/Text&gt;ArkTS（ArkUI）、C++（NAPI 原生模块）、TypeScript。&lt;/Text&gt;&#10;        &lt;Text style={{ fontSize: 14, color: '#475569', lineHeight: 1.6, marginTop: 6 }}&gt;&lt;Text style={{ fontWeight: 'bold', color: '#3B82F6' }}&gt;运行环境：&lt;/Text&gt;HarmonyOS NEXT（API 24 / 6.1.1）、DevEco Studio、本地沙箱。&lt;/Text&gt;&#10;      &lt;/Box&gt;&#10;      &lt;Box style={{ width: '100%', height: 150, border: '1px solid #CBD5E1', borderRadius: 12, alignItems: 'center', justifyContent: 'center', background: '#F1F5F9' }}&gt;&#10;        &lt;Text style={{ fontSize: 14, color: '#94A3B8' }}&gt;【截图占位】AI 编程工具（WorkBuddy 多 Agent）界面截图&lt;/Text&gt;&#10;      &lt;/Box&gt;&#10;    &lt;/Box&gt;&#10;&#10;    &lt;Box style={{ width: '54%' }}&gt;&#10;      &lt;Text style={{ fontSize: 17, fontWeight: 'bold', color: '#1E293B', marginBottom: 10 }}&gt;核心功能目标（4 条）&lt;/Text&gt;&#10;      &lt;Box style={{ flexDirection: 'row', alignItems: 'flex-start', gap: 10, marginBottom: 10 }}&gt;&#10;        &lt;Text style={{ fontSize: 16, fontWeight: 'bold', color: '#06B6D4' }}&gt;①&lt;/Text&gt;&#10;        &lt;Text style={{ fontSize: 15, color: '#475569', lineHeight: 1.5, flex: 1 }}&gt;本地音频元数据真实解析（FLAC / MP3 / MP4），无需联网。&lt;/Text&gt;&#10;      &lt;/Box&gt;&#10;      &lt;Box style={{ flexDirection: 'row', alignItems: 'flex-start', gap: 10, marginBottom: 10 }}&gt;&#10;        &lt;Text style={{ fontSize: 16, fontWeight: 'bold', color: '#06B6D4' }}&gt;②&lt;/Text&gt;&#10;        &lt;Text style={{ fontSize: 15, color: '#475569', lineHeight: 1.5, flex: 1 }}&gt;完整播放控制与后台播放（进度、队列、续播）。&lt;/Text&gt;&#10;      &lt;/Box&gt;&#10;      &lt;Box style={{ flexDirection: 'row', alignItems: 'flex-start', gap: 10, marginBottom: 10 }}&gt;&#10;        &lt;Text style={{ fontSize: 16, fontWeight: 'bold', color: '#06B6D4' }}&gt;③&lt;/Text&gt;&#10;        &lt;Text style={{ fontSize: 15, color: '#475569', lineHeight: 1.5, flex: 1 }}&gt;封面 / 歌词管线，支持多格式内嵌歌词与模糊背景。&lt;/Text&gt;&#10;      &lt;/Box&gt;&#10;      &lt;Box style={{ flexDirection: 'row', alignItems: 'flex-start', gap: 10, marginBottom: 14 }}&gt;&#10;        &lt;Text style={{ fontSize: 16, fontWeight: 'bold', color: '#06B6D4' }}&gt;④&lt;/Text&gt;&#10;        &lt;Text style={{ fontSize: 15, color: '#475569', lineHeight: 1.5, flex: 1 }}&gt;投播（AVCast）与桌面卡片（FormKit）。&lt;/Text&gt;&#10;      &lt;/Box&gt;&#10;      &lt;Box style={{ background: '#FFF7ED', border: '1px solid #FED7AA', borderRadius: 12, padding: 16 }}&gt;&#10;        &lt;Text style={{ fontSize: 15, fontWeight: 'bold', color: '#C2410C' }}&gt;验收标准&lt;/Text&gt;&#10;        &lt;Text style={{ fontSize: 14, color: '#9A3412', lineHeight: 1.6, marginTop: 6 }}&gt;签名 HAP 可安装运行；核心功能均有运行佐证；代码经审查无 P0 级缺陷；文档完整可交付。&lt;/Text&gt;&#10;      &lt;/Box&gt;&#10;    &lt;/Box&gt;&#10;  &lt;/Box&gt;&#10;&#10;  &lt;Box style={{ position: 'absolute', bottom: 0, left: 0, right: 0, height: 56, paddingHorizontal: 80, flexDirection: 'row', justifyContent: 'space-between', alignItems: 'center' }}&gt;&#10;    &lt;Text style={{ fontSize: 13, color: '#94A3B8' }}&gt;VibeCoding 实践项目 · Lumio Music&lt;/Text&gt;&#10;    &lt;Text style={{ fontSize: 13, color: '#94A3B8' }}&gt;04 / 1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"/>
          <p:cNvSpPr/>
          <p:nvPr/>
        </p:nvSpPr>
        <p:spPr>
          <a:xfrm rot="0" flipH="0" flipV="0">
            <a:off x="0" y="342900"/>
            <a:ext cx="57150" cy="381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06B6D4"/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209550" y="285750"/>
            <a:ext cx="2571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50">
                <a:solidFill>
                  <a:srgbClr val="06B6D4"/>
                </a:solidFill>
                <a:latin typeface="Microsoft YaHei"/>
                <a:ea typeface="Microsoft YaHei"/>
              </a:rPr>
              <a:t>MODULE 2.1 · </a:t>
            </a:r>
            <a:r>
              <a:rPr lang="zh-CN" sz="975" b="1" spc="150">
                <a:solidFill>
                  <a:srgbClr val="06B6D4"/>
                </a:solidFill>
                <a:latin typeface="Microsoft YaHei"/>
                <a:ea typeface="Microsoft YaHei"/>
              </a:rPr>
              <a:t>项目前期准备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209550" y="438150"/>
            <a:ext cx="2571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E293B"/>
                </a:solidFill>
                <a:latin typeface="Microsoft YaHei"/>
                <a:ea typeface="Microsoft YaHei"/>
              </a:rPr>
              <a:t>开发环境与目标定义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0" y="2152650"/>
            <a:ext cx="5486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E293B"/>
                </a:solidFill>
                <a:latin typeface="Microsoft YaHei"/>
                <a:ea typeface="Microsoft YaHei"/>
              </a:rPr>
              <a:t>AI </a:t>
            </a:r>
            <a:r>
              <a:rPr lang="zh-CN" sz="1275" b="1">
                <a:solidFill>
                  <a:srgbClr val="1E293B"/>
                </a:solidFill>
                <a:latin typeface="Microsoft YaHei"/>
                <a:ea typeface="Microsoft YaHei"/>
              </a:rPr>
              <a:t>工具</a:t>
            </a:r>
            <a:r>
              <a:rPr lang="en-US" sz="1275" b="1">
                <a:solidFill>
                  <a:srgbClr val="1E293B"/>
                </a:solidFill>
                <a:latin typeface="Microsoft YaHei"/>
                <a:ea typeface="Microsoft YaHei"/>
              </a:rPr>
              <a:t> · </a:t>
            </a:r>
            <a:r>
              <a:rPr lang="zh-CN" sz="1275" b="1">
                <a:solidFill>
                  <a:srgbClr val="1E293B"/>
                </a:solidFill>
                <a:latin typeface="Microsoft YaHei"/>
                <a:ea typeface="Microsoft YaHei"/>
              </a:rPr>
              <a:t>语言框架</a:t>
            </a:r>
            <a:r>
              <a:rPr lang="en-US" sz="1275" b="1">
                <a:solidFill>
                  <a:srgbClr val="1E293B"/>
                </a:solidFill>
                <a:latin typeface="Microsoft YaHei"/>
                <a:ea typeface="Microsoft YaHei"/>
              </a:rPr>
              <a:t> · </a:t>
            </a:r>
            <a:r>
              <a:rPr lang="zh-CN" sz="1275" b="1">
                <a:solidFill>
                  <a:srgbClr val="1E293B"/>
                </a:solidFill>
                <a:latin typeface="Microsoft YaHei"/>
                <a:ea typeface="Microsoft YaHei"/>
              </a:rPr>
              <a:t>环境</a:t>
            </a:r>
            <a:endParaRPr/>
          </a:p>
        </p:txBody>
      </p:sp>
      <p:sp>
        <p:nvSpPr>
          <p:cNvPr id="141" name=""/>
          <p:cNvSpPr/>
          <p:nvPr/>
        </p:nvSpPr>
        <p:spPr>
          <a:xfrm rot="0" flipH="0" flipV="0">
            <a:off x="0" y="2447925"/>
            <a:ext cx="5486400" cy="14859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171450" y="2619375"/>
            <a:ext cx="51435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AI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编程工具：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WorkBuddy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多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Agent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（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/harmonyos-developer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开发、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/harmonyos-reviewer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审查、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/harmonyos-pm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规划），自然语言驱动。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171450" y="3190875"/>
            <a:ext cx="51435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语言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框架：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ArkTS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（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ArkUI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）、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C++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（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NAPI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原生模块）、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TypeScript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171450" y="3505200"/>
            <a:ext cx="51435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运行环境：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HarmonyOS NEXT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（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API 24 / 6.1.1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）、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DevEco Studio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、本地沙箱。</a:t>
            </a:r>
            <a:endParaRPr/>
          </a:p>
        </p:txBody>
      </p:sp>
      <p:sp>
        <p:nvSpPr>
          <p:cNvPr id="145" name=""/>
          <p:cNvSpPr/>
          <p:nvPr/>
        </p:nvSpPr>
        <p:spPr>
          <a:xfrm rot="0" flipH="0" flipV="0">
            <a:off x="0" y="4067175"/>
            <a:ext cx="5486400" cy="14287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914400" y="4705350"/>
            <a:ext cx="3657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【截图占位】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AI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编程工具（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WorkBuddy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多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Agent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）界面截图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5753100" y="2552700"/>
            <a:ext cx="6438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293B"/>
                </a:solidFill>
                <a:latin typeface="Microsoft YaHei"/>
                <a:ea typeface="Microsoft YaHei"/>
              </a:rPr>
              <a:t>核心功能目标（</a:t>
            </a:r>
            <a:r>
              <a:rPr lang="en-US" sz="1275" b="1">
                <a:solidFill>
                  <a:srgbClr val="1E293B"/>
                </a:solidFill>
                <a:latin typeface="Microsoft YaHei"/>
                <a:ea typeface="Microsoft YaHei"/>
              </a:rPr>
              <a:t>4 </a:t>
            </a:r>
            <a:r>
              <a:rPr lang="zh-CN" sz="1275" b="1">
                <a:solidFill>
                  <a:srgbClr val="1E293B"/>
                </a:solidFill>
                <a:latin typeface="Microsoft YaHei"/>
                <a:ea typeface="Microsoft YaHei"/>
              </a:rPr>
              <a:t>条）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5753100" y="2847975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 b="1">
                <a:solidFill>
                  <a:srgbClr val="06B6D4"/>
                </a:solidFill>
                <a:latin typeface="Microsoft YaHei"/>
                <a:ea typeface="Microsoft YaHei"/>
              </a:rPr>
              <a:t>①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6000750" y="2847975"/>
            <a:ext cx="61912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本地音频元数据真实解析（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>FLAC / MP3 / MP4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），无需联网。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5753100" y="3200400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 b="1">
                <a:solidFill>
                  <a:srgbClr val="06B6D4"/>
                </a:solidFill>
                <a:latin typeface="Microsoft YaHei"/>
                <a:ea typeface="Microsoft YaHei"/>
              </a:rPr>
              <a:t>②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6000750" y="3200400"/>
            <a:ext cx="61912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完整播放控制与后台播放（进度、队列、续播）。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5753100" y="3552825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 b="1">
                <a:solidFill>
                  <a:srgbClr val="06B6D4"/>
                </a:solidFill>
                <a:latin typeface="Microsoft YaHei"/>
                <a:ea typeface="Microsoft YaHei"/>
              </a:rPr>
              <a:t>③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6000750" y="3552825"/>
            <a:ext cx="61912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封面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歌词管线，支持多格式内嵌歌词与模糊背景。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5753100" y="3905250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 b="1">
                <a:solidFill>
                  <a:srgbClr val="06B6D4"/>
                </a:solidFill>
                <a:latin typeface="Microsoft YaHei"/>
                <a:ea typeface="Microsoft YaHei"/>
              </a:rPr>
              <a:t>④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6000750" y="3905250"/>
            <a:ext cx="61912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投播（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>AVCast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）与桌面卡片（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>FormKit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）。</a:t>
            </a:r>
            <a:endParaRPr/>
          </a:p>
        </p:txBody>
      </p:sp>
      <p:sp>
        <p:nvSpPr>
          <p:cNvPr id="156" name=""/>
          <p:cNvSpPr/>
          <p:nvPr/>
        </p:nvSpPr>
        <p:spPr>
          <a:xfrm rot="0" flipH="0" flipV="0">
            <a:off x="5753100" y="4295775"/>
            <a:ext cx="6438900" cy="790575"/>
          </a:xfrm>
          <a:prstGeom prst="roundRect">
            <a:avLst>
              <a:gd name="adj" fmla="val 14458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p/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5905500" y="4448175"/>
            <a:ext cx="6134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2410C"/>
                </a:solidFill>
                <a:latin typeface="Microsoft YaHei"/>
                <a:ea typeface="Microsoft YaHei"/>
              </a:rPr>
              <a:t>验收标准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5905500" y="4676775"/>
            <a:ext cx="61341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9A3412"/>
                </a:solidFill>
                <a:latin typeface="Microsoft YaHei"/>
                <a:ea typeface="Microsoft YaHei"/>
              </a:rPr>
              <a:t>签名</a:t>
            </a:r>
            <a:r>
              <a:rPr lang="en-US" sz="1050">
                <a:solidFill>
                  <a:srgbClr val="9A3412"/>
                </a:solidFill>
                <a:latin typeface="Microsoft YaHei"/>
                <a:ea typeface="Microsoft YaHei"/>
              </a:rPr>
              <a:t> HAP </a:t>
            </a:r>
            <a:r>
              <a:rPr lang="zh-CN" sz="1050">
                <a:solidFill>
                  <a:srgbClr val="9A3412"/>
                </a:solidFill>
                <a:latin typeface="Microsoft YaHei"/>
                <a:ea typeface="Microsoft YaHei"/>
              </a:rPr>
              <a:t>可安装运行；核心功能均有运行佐证；代码经审查无</a:t>
            </a:r>
            <a:r>
              <a:rPr lang="en-US" sz="1050">
                <a:solidFill>
                  <a:srgbClr val="9A3412"/>
                </a:solidFill>
                <a:latin typeface="Microsoft YaHei"/>
                <a:ea typeface="Microsoft YaHei"/>
              </a:rPr>
              <a:t> P0 </a:t>
            </a:r>
            <a:r>
              <a:rPr lang="zh-CN" sz="1050">
                <a:solidFill>
                  <a:srgbClr val="9A3412"/>
                </a:solidFill>
                <a:latin typeface="Microsoft YaHei"/>
                <a:ea typeface="Microsoft YaHei"/>
              </a:rPr>
              <a:t>级缺陷；文档完整可交付。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0" y="6515100"/>
            <a:ext cx="2085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VibeCoding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实践项目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 · Lumio Music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11772900" y="65151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04 / 14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61" name="" descr="&lt;Slide&gt;&#10;  &lt;Box style={{ flexDirection: 'row', alignItems: 'center', gap: 16, paddingHorizontal: 80, paddingTop: 30 }}&gt;&#10;    &lt;Box style={{ width: 6, height: 40, background: 'linear-gradient(180deg,#3B82F6,#06B6D4)', borderRadius: 3 }} /&gt;&#10;    &lt;Box style={{ flexDirection: 'column' }}&gt;&#10;      &lt;Text style={{ fontSize: 13, color: '#06B6D4', fontWeight: 'bold', letterSpacing: 2 }}&gt;MODULE 2.2 · VibeCoding 开发过程&lt;/Text&gt;&#10;      &lt;Text style={{ fontSize: 30, fontWeight: 'bold', color: '#1E293B' }}&gt;Prompt 设计与迭代记录&lt;/Text&gt;&#10;    &lt;/Box&gt;&#10;  &lt;/Box&gt;&#10;&#10;  &lt;Box style={{ flex: 1, flexDirection: 'row', alignItems: 'center', paddingHorizontal: 80, gap: 28 }}&gt;&#10;    &lt;Box style={{ width: '48%' }}&gt;&#10;      &lt;Text style={{ fontSize: 16, fontWeight: 'bold', color: '#1E293B', marginBottom: 10 }}&gt;关键节点的 Prompt 思路&lt;/Text&gt;&#10;      &lt;Box style={{ background: '#F8FAFC', border: '1px solid #E2E8F0', borderRadius: 12, padding: 16, marginBottom: 12 }}&gt;&#10;        &lt;Text style={{ fontSize: 14, color: '#475569', lineHeight: 1.6 }}&gt;&lt;Text style={{ fontWeight: 'bold', color: '#3B82F6' }}&gt;需求拆解 →&lt;/Text&gt; 用结构化描述把「做一个音乐播放器」拆成模块、接口与验收点。&lt;/Text&gt;&#10;      &lt;/Box&gt;&#10;      &lt;Box style={{ background: '#F8FAFC', border: '1px solid #E2E8F0', borderRadius: 12, padding: 16, marginBottom: 12 }}&gt;&#10;        &lt;Text style={{ fontSize: 14, color: '#475569', lineHeight: 1.6 }}&gt;&lt;Text style={{ fontWeight: 'bold', color: '#3B82F6' }}&gt;模块设计 →&lt;/Text&gt; 分步给上下文（ArkTS 红线、已有的 NAPI 接口），让生成贴合约束。&lt;/Text&gt;&#10;      &lt;/Box&gt;&#10;      &lt;Box style={{ background: '#F8FAFC', border: '1px solid #E2E8F0', borderRadius: 12, padding: 16, marginBottom: 12 }}&gt;&#10;        &lt;Text style={{ fontSize: 14, color: '#475569', lineHeight: 1.6 }}&gt;&lt;Text style={{ fontWeight: 'bold', color: '#3B82F6' }}&gt;代码生成 →&lt;/Text&gt; 先列方案再落地，避免「一行行改」的低效循环。&lt;/Text&gt;&#10;      &lt;/Box&gt;&#10;      &lt;Box style={{ background: '#F8FAFC', border: '1px solid #E2E8F0', borderRadius: 12, padding: 16 }}&gt;&#10;        &lt;Text style={{ fontSize: 14, color: '#475569', lineHeight: 1.6 }}&gt;&lt;Text style={{ fontWeight: 'bold', color: '#3B82F6' }}&gt;审查修复 →&lt;/Text&gt; 把 reviewer 反馈作为下一轮 Prompt，闭环收敛。&lt;/Text&gt;&#10;      &lt;/Box&gt;&#10;    &lt;/Box&gt;&#10;&#10;    &lt;Box style={{ width: '52%' }}&gt;&#10;      &lt;Text style={{ fontSize: 16, fontWeight: 'bold', color: '#1E293B', marginBottom: 10 }}&gt;表达方式对生成效果的影响&lt;/Text&gt;&#10;      &lt;Text style={{ fontSize: 14, color: '#475569', lineHeight: 1.7, marginBottom: 12 }}&gt;同一需求，笼统描述常生成「能编译但跑不通」的代码；而「先列方案、给约束、附上下文」的结构化 Prompt，一次通过率显著提升。迭代目标从「能跑」逐步收敛到「合规、可维护、可复现」。&lt;/Text&gt;&#10;      &lt;Box style={{ width: '100%', height: 230, border: '1px solid #CBD5E1', borderRadius: 12, alignItems: 'center', justifyContent: 'center', background: '#F1F5F9' }}&gt;&#10;        &lt;Text style={{ fontSize: 14, color: '#94A3B8' }}&gt;【截图占位】多 Agent 对话 / Prompt 记录（含迭代前后对比）&lt;/Text&gt;&#10;      &lt;/Box&gt;&#10;    &lt;/Box&gt;&#10;  &lt;/Box&gt;&#10;&#10;  &lt;Box style={{ position: 'absolute', bottom: 0, left: 0, right: 0, height: 56, paddingHorizontal: 80, flexDirection: 'row', justifyContent: 'space-between', alignItems: 'center' }}&gt;&#10;    &lt;Text style={{ fontSize: 13, color: '#94A3B8' }}&gt;VibeCoding 实践项目 · Lumio Music&lt;/Text&gt;&#10;    &lt;Text style={{ fontSize: 13, color: '#94A3B8' }}&gt;05 / 1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"/>
          <p:cNvSpPr/>
          <p:nvPr/>
        </p:nvSpPr>
        <p:spPr>
          <a:xfrm rot="0" flipH="0" flipV="0">
            <a:off x="0" y="342900"/>
            <a:ext cx="57150" cy="381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06B6D4"/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209550" y="285750"/>
            <a:ext cx="3171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50">
                <a:solidFill>
                  <a:srgbClr val="06B6D4"/>
                </a:solidFill>
                <a:latin typeface="Microsoft YaHei"/>
                <a:ea typeface="Microsoft YaHei"/>
              </a:rPr>
              <a:t>MODULE 2.2 · VibeCoding </a:t>
            </a:r>
            <a:r>
              <a:rPr lang="zh-CN" sz="975" b="1" spc="150">
                <a:solidFill>
                  <a:srgbClr val="06B6D4"/>
                </a:solidFill>
                <a:latin typeface="Microsoft YaHei"/>
                <a:ea typeface="Microsoft YaHei"/>
              </a:rPr>
              <a:t>开发过程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209550" y="438150"/>
            <a:ext cx="31718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E293B"/>
                </a:solidFill>
                <a:latin typeface="Microsoft YaHei"/>
                <a:ea typeface="Microsoft YaHei"/>
              </a:rPr>
              <a:t>Prompt </a:t>
            </a:r>
            <a:r>
              <a:rPr lang="zh-CN" sz="2250" b="1">
                <a:solidFill>
                  <a:srgbClr val="1E293B"/>
                </a:solidFill>
                <a:latin typeface="Microsoft YaHei"/>
                <a:ea typeface="Microsoft YaHei"/>
              </a:rPr>
              <a:t>设计与迭代记录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0" y="2381250"/>
            <a:ext cx="57245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293B"/>
                </a:solidFill>
                <a:latin typeface="Microsoft YaHei"/>
                <a:ea typeface="Microsoft YaHei"/>
              </a:rPr>
              <a:t>关键节点的</a:t>
            </a:r>
            <a:r>
              <a:rPr lang="en-US" sz="1200" b="1">
                <a:solidFill>
                  <a:srgbClr val="1E293B"/>
                </a:solidFill>
                <a:latin typeface="Microsoft YaHei"/>
                <a:ea typeface="Microsoft YaHei"/>
              </a:rPr>
              <a:t> Prompt </a:t>
            </a:r>
            <a:r>
              <a:rPr lang="zh-CN" sz="1200" b="1">
                <a:solidFill>
                  <a:srgbClr val="1E293B"/>
                </a:solidFill>
                <a:latin typeface="Microsoft YaHei"/>
                <a:ea typeface="Microsoft YaHei"/>
              </a:rPr>
              <a:t>思路</a:t>
            </a:r>
            <a:endParaRPr/>
          </a:p>
        </p:txBody>
      </p:sp>
      <p:sp>
        <p:nvSpPr>
          <p:cNvPr id="166" name=""/>
          <p:cNvSpPr/>
          <p:nvPr/>
        </p:nvSpPr>
        <p:spPr>
          <a:xfrm rot="0" flipH="0" flipV="0">
            <a:off x="0" y="2667000"/>
            <a:ext cx="5724525" cy="561975"/>
          </a:xfrm>
          <a:prstGeom prst="roundRect">
            <a:avLst>
              <a:gd name="adj" fmla="val 203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152400" y="2819400"/>
            <a:ext cx="5419725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需求拆解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→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用结构化描述把「做一个音乐播放器」拆成模块、接口与验收点。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0" y="3343275"/>
            <a:ext cx="5724525" cy="561975"/>
          </a:xfrm>
          <a:prstGeom prst="roundRect">
            <a:avLst>
              <a:gd name="adj" fmla="val 203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152400" y="3495675"/>
            <a:ext cx="5419725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模块设计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→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分步给上下文（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ArkTS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红线、已有的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NAPI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接口），让生成贴合约束。</a:t>
            </a:r>
            <a:endParaRPr/>
          </a:p>
        </p:txBody>
      </p:sp>
      <p:sp>
        <p:nvSpPr>
          <p:cNvPr id="170" name=""/>
          <p:cNvSpPr/>
          <p:nvPr/>
        </p:nvSpPr>
        <p:spPr>
          <a:xfrm rot="0" flipH="0" flipV="0">
            <a:off x="0" y="4019550"/>
            <a:ext cx="5724525" cy="561975"/>
          </a:xfrm>
          <a:prstGeom prst="roundRect">
            <a:avLst>
              <a:gd name="adj" fmla="val 203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152400" y="4171950"/>
            <a:ext cx="5419725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代码生成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→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先列方案再落地，避免「一行行改」的低效循环。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0" y="4695825"/>
            <a:ext cx="5724525" cy="561975"/>
          </a:xfrm>
          <a:prstGeom prst="roundRect">
            <a:avLst>
              <a:gd name="adj" fmla="val 203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152400" y="4848225"/>
            <a:ext cx="5419725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审查修复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→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把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reviewer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反馈作为下一轮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Prompt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，闭环收敛。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5991225" y="2247900"/>
            <a:ext cx="62007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293B"/>
                </a:solidFill>
                <a:latin typeface="Microsoft YaHei"/>
                <a:ea typeface="Microsoft YaHei"/>
              </a:rPr>
              <a:t>表达方式对生成效果的影响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5991225" y="2533650"/>
            <a:ext cx="620077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同一需求，笼统描述常生成「能编译但跑不通」的代码；而「先列方案、给约束、附上下文」的结构化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Prompt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，一次通过率显著提升。迭代目标从「能跑」逐步收敛到「合规、可维护、可复现」。</a:t>
            </a:r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5991225" y="3200400"/>
            <a:ext cx="6200775" cy="2190750"/>
          </a:xfrm>
          <a:prstGeom prst="roundRect">
            <a:avLst>
              <a:gd name="adj" fmla="val 521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7200900" y="4219575"/>
            <a:ext cx="3790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【截图占位】多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Agent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对话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/ Prompt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记录（含迭代前后对比）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0" y="6515100"/>
            <a:ext cx="2085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VibeCoding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实践项目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 · Lumio Music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11772900" y="65151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05 / 14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80" name="" descr="&lt;Slide&gt;&#10;  &lt;Box style={{ flexDirection: 'row', alignItems: 'center', gap: 16, paddingHorizontal: 80, paddingTop: 30 }}&gt;&#10;    &lt;Box style={{ width: 6, height: 40, background: 'linear-gradient(180deg,#3B82F6,#06B6D4)', borderRadius: 3 }} /&gt;&#10;    &lt;Box style={{ flexDirection: 'column' }}&gt;&#10;      &lt;Text style={{ fontSize: 13, color: '#06B6D4', fontWeight: 'bold', letterSpacing: 2 }}&gt;MODULE 2.2 · VibeCoding 开发过程&lt;/Text&gt;&#10;      &lt;Text style={{ fontSize: 30, fontWeight: 'bold', color: '#1E293B' }}&gt;功能模块实现说明&lt;/Text&gt;&#10;    &lt;/Box&gt;&#10;  &lt;/Box&gt;&#10;&#10;  &lt;Box style={{ flex: 1, flexDirection: 'column', justifyContent: 'center', paddingHorizontal: 80 }}&gt;&#10;    &lt;Box style={{ flexDirection: 'row', flexWrap: 'wrap', gap: 16 }}&gt;&#10;      &lt;Box style={{ width: '31.5%', background: '#F8FAFC', border: '1px solid #E2E8F0', borderRadius: 12, padding: 16 }}&gt;&#10;        &lt;Text style={{ fontSize: 16, fontWeight: 'bold', color: '#3B82F6' }}&gt;元数据解析（C++ NAPI）&lt;/Text&gt;&#10;        &lt;Text style={{ fontSize: 13, color: '#475569', marginTop: 6, lineHeight: 1.55 }}&gt;FLAC(VORBIS+STREAMINFO) / MP3(ID3v2+MPEG) / MP4(mvhd+ilst) 真实解析；修复 32 位长度回绕致堆越界。&lt;/Text&gt;&#10;      &lt;/Box&gt;&#10;      &lt;Box style={{ width: '31.5%', background: '#F8FAFC', border: '1px solid #E2E8F0', borderRadius: 12, padding: 16 }}&gt;&#10;        &lt;Text style={{ fontSize: 16, fontWeight: 'bold', color: '#3B82F6' }}&gt;播放控制&lt;/Text&gt;&#10;        &lt;Text style={{ fontSize: 13, color: '#475569', marginTop: 6, lineHeight: 1.55 }}&gt;AudioRenderer + AVPlayer，后台播放、进度、队列与续播；统一存储三套对齐。&lt;/Text&gt;&#10;      &lt;/Box&gt;&#10;      &lt;Box style={{ width: '31.5%', background: '#F8FAFC', border: '1px solid #E2E8F0', borderRadius: 12, padding: 16 }}&gt;&#10;        &lt;Text style={{ fontSize: 16, fontWeight: 'bold', color: '#3B82F6' }}&gt;封面 / 歌词管线&lt;/Text&gt;&#10;        &lt;Text style={{ fontSize: 13, color: '#475569', marginTop: 6, lineHeight: 1.55 }}&gt;AVMetadataExtractor 抽封面；FLAC/MP4/MP3 内嵌歌词 + LRC 解析，模糊背景。&lt;/Text&gt;&#10;      &lt;/Box&gt;&#10;      &lt;Box style={{ width: '31.5%', background: '#F8FAFC', border: '1px solid #E2E8F0', borderRadius: 12, padding: 16 }}&gt;&#10;        &lt;Text style={{ fontSize: 16, fontWeight: 'bold', color: '#3B82F6' }}&gt;投播（AVCast）&lt;/Text&gt;&#10;        &lt;Text style={{ fontSize: 13, color: '#475569', marginTop: 6, lineHeight: 1.55 }}&gt;AVCastPicker / Controller，远程经 sendControlCommand 控播，本地 fd 投远端。&lt;/Text&gt;&#10;      &lt;/Box&gt;&#10;      &lt;Box style={{ width: '31.5%', background: '#F8FAFC', border: '1px solid #E2E8F0', borderRadius: 12, padding: 16 }}&gt;&#10;        &lt;Text style={{ fontSize: 16, fontWeight: 'bold', color: '#3B82F6' }}&gt;桌面卡片（FormKit）&lt;/Text&gt;&#10;        &lt;Text style={{ fontSize: 13, color: '#475569', marginTop: 6, lineHeight: 1.55 }}&gt;FormExtensionAbility + updateForm + postCardAction，独立 form 进程回控。&lt;/Text&gt;&#10;      &lt;/Box&gt;&#10;      &lt;Box style={{ width: '31.5%', background: '#F8FAFC', border: '1px solid #E2E8F0', borderRadius: 12, padding: 16 }}&gt;&#10;        &lt;Text style={{ fontSize: 16, fontWeight: 'bold', color: '#3B82F6' }}&gt;收藏与设置&lt;/Text&gt;&#10;        &lt;Text style={{ fontSize: 13, color: '#475569', marginTop: 6, lineHeight: 1.55 }}&gt;收藏唯一权威源收口 MusicStore.favorites；明暗主题、权限最小化。&lt;/Text&gt;&#10;      &lt;/Box&gt;&#10;    &lt;/Box&gt;&#10;&#10;    &lt;Box style={{ flexDirection: 'row', paddingTop: 14, gap: 16 }}&gt;&#10;      &lt;Box style={{ width: '50%', height: 96, border: '1px solid #CBD5E1', borderRadius: 12, alignItems: 'center', justifyContent: 'center', background: '#F1F5F9' }}&gt;&#10;        &lt;Text style={{ fontSize: 13, color: '#94A3B8' }}&gt;【截图占位】关键功能代码片段（NAPI / ArkTS）&lt;/Text&gt;&#10;      &lt;/Box&gt;&#10;      &lt;Box style={{ width: '50%', height: 96, border: '1px solid #CBD5E1', borderRadius: 12, alignItems: 'center', justifyContent: 'center', background: '#F1F5F9' }}&gt;&#10;        &lt;Text style={{ fontSize: 13, color: '#94A3B8' }}&gt;【截图占位】AI 生成对话截图（含代码逻辑说明）&lt;/Text&gt;&#10;      &lt;/Box&gt;&#10;    &lt;/Box&gt;&#10;  &lt;/Box&gt;&#10;&#10;  &lt;Box style={{ position: 'absolute', bottom: 0, left: 0, right: 0, height: 56, paddingHorizontal: 80, flexDirection: 'row', justifyContent: 'space-between', alignItems: 'center' }}&gt;&#10;    &lt;Text style={{ fontSize: 13, color: '#94A3B8' }}&gt;VibeCoding 实践项目 · Lumio Music&lt;/Text&gt;&#10;    &lt;Text style={{ fontSize: 13, color: '#94A3B8' }}&gt;06 / 1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"/>
          <p:cNvSpPr/>
          <p:nvPr/>
        </p:nvSpPr>
        <p:spPr>
          <a:xfrm rot="0" flipH="0" flipV="0">
            <a:off x="0" y="342900"/>
            <a:ext cx="57150" cy="381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06B6D4"/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209550" y="285750"/>
            <a:ext cx="2714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50">
                <a:solidFill>
                  <a:srgbClr val="06B6D4"/>
                </a:solidFill>
                <a:latin typeface="Microsoft YaHei"/>
                <a:ea typeface="Microsoft YaHei"/>
              </a:rPr>
              <a:t>MODULE 2.2 · VibeCoding </a:t>
            </a:r>
            <a:r>
              <a:rPr lang="zh-CN" sz="975" b="1" spc="150">
                <a:solidFill>
                  <a:srgbClr val="06B6D4"/>
                </a:solidFill>
                <a:latin typeface="Microsoft YaHei"/>
                <a:ea typeface="Microsoft YaHei"/>
              </a:rPr>
              <a:t>开发过程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209550" y="438150"/>
            <a:ext cx="27146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E293B"/>
                </a:solidFill>
                <a:latin typeface="Microsoft YaHei"/>
                <a:ea typeface="Microsoft YaHei"/>
              </a:rPr>
              <a:t>功能模块实现说明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0" y="2200275"/>
            <a:ext cx="3838575" cy="1019175"/>
          </a:xfrm>
          <a:prstGeom prst="roundRect">
            <a:avLst>
              <a:gd name="adj" fmla="val 1121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152400" y="2352675"/>
            <a:ext cx="35337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B82F6"/>
                </a:solidFill>
                <a:latin typeface="Microsoft YaHei"/>
                <a:ea typeface="Microsoft YaHei"/>
              </a:rPr>
              <a:t>元数据解析（</a:t>
            </a:r>
            <a:r>
              <a:rPr lang="en-US" sz="1200" b="1">
                <a:solidFill>
                  <a:srgbClr val="3B82F6"/>
                </a:solidFill>
                <a:latin typeface="Microsoft YaHei"/>
                <a:ea typeface="Microsoft YaHei"/>
              </a:rPr>
              <a:t>C++ NAPI</a:t>
            </a:r>
            <a:r>
              <a:rPr lang="zh-CN" sz="1200" b="1">
                <a:solidFill>
                  <a:srgbClr val="3B82F6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152400" y="2600325"/>
            <a:ext cx="3533775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FLAC(VORBIS+STREAMINFO) / MP3(ID3v2+MPEG) / MP4(mvhd+ilst)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真实解析；修复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32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位长度回绕致堆越界。</a:t>
            </a:r>
            <a:endParaRPr/>
          </a:p>
        </p:txBody>
      </p:sp>
      <p:sp>
        <p:nvSpPr>
          <p:cNvPr id="187" name=""/>
          <p:cNvSpPr/>
          <p:nvPr/>
        </p:nvSpPr>
        <p:spPr>
          <a:xfrm rot="0" flipH="0" flipV="0">
            <a:off x="3990975" y="2200275"/>
            <a:ext cx="3838575" cy="1019175"/>
          </a:xfrm>
          <a:prstGeom prst="roundRect">
            <a:avLst>
              <a:gd name="adj" fmla="val 1121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4143375" y="2352675"/>
            <a:ext cx="35337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B82F6"/>
                </a:solidFill>
                <a:latin typeface="Microsoft YaHei"/>
                <a:ea typeface="Microsoft YaHei"/>
              </a:rPr>
              <a:t>播放控制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4143375" y="2600325"/>
            <a:ext cx="3533775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AudioRenderer + AVPlayer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，后台播放、进度、队列与续播；统一存储三套对齐。</a:t>
            </a:r>
            <a:endParaRPr/>
          </a:p>
        </p:txBody>
      </p:sp>
      <p:sp>
        <p:nvSpPr>
          <p:cNvPr id="190" name=""/>
          <p:cNvSpPr/>
          <p:nvPr/>
        </p:nvSpPr>
        <p:spPr>
          <a:xfrm rot="0" flipH="0" flipV="0">
            <a:off x="7981950" y="2200275"/>
            <a:ext cx="3848100" cy="1019175"/>
          </a:xfrm>
          <a:prstGeom prst="roundRect">
            <a:avLst>
              <a:gd name="adj" fmla="val 1121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8134350" y="2352675"/>
            <a:ext cx="3543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B82F6"/>
                </a:solidFill>
                <a:latin typeface="Microsoft YaHei"/>
                <a:ea typeface="Microsoft YaHei"/>
              </a:rPr>
              <a:t>封面</a:t>
            </a:r>
            <a:r>
              <a:rPr lang="en-US" sz="1200" b="1">
                <a:solidFill>
                  <a:srgbClr val="3B82F6"/>
                </a:solidFill>
                <a:latin typeface="Microsoft YaHei"/>
                <a:ea typeface="Microsoft YaHei"/>
              </a:rPr>
              <a:t> / </a:t>
            </a:r>
            <a:r>
              <a:rPr lang="zh-CN" sz="1200" b="1">
                <a:solidFill>
                  <a:srgbClr val="3B82F6"/>
                </a:solidFill>
                <a:latin typeface="Microsoft YaHei"/>
                <a:ea typeface="Microsoft YaHei"/>
              </a:rPr>
              <a:t>歌词管线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8134350" y="2600325"/>
            <a:ext cx="354330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AVMetadataExtractor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抽封面；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FLAC/MP4/MP3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内嵌歌词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+ LRC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解析，模糊背景。</a:t>
            </a:r>
            <a:endParaRPr/>
          </a:p>
        </p:txBody>
      </p:sp>
      <p:sp>
        <p:nvSpPr>
          <p:cNvPr id="193" name=""/>
          <p:cNvSpPr/>
          <p:nvPr/>
        </p:nvSpPr>
        <p:spPr>
          <a:xfrm rot="0" flipH="0" flipV="0">
            <a:off x="0" y="3371850"/>
            <a:ext cx="3838575" cy="1019175"/>
          </a:xfrm>
          <a:prstGeom prst="roundRect">
            <a:avLst>
              <a:gd name="adj" fmla="val 1121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152400" y="3524250"/>
            <a:ext cx="35337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B82F6"/>
                </a:solidFill>
                <a:latin typeface="Microsoft YaHei"/>
                <a:ea typeface="Microsoft YaHei"/>
              </a:rPr>
              <a:t>投播（</a:t>
            </a:r>
            <a:r>
              <a:rPr lang="en-US" sz="1200" b="1">
                <a:solidFill>
                  <a:srgbClr val="3B82F6"/>
                </a:solidFill>
                <a:latin typeface="Microsoft YaHei"/>
                <a:ea typeface="Microsoft YaHei"/>
              </a:rPr>
              <a:t>AVCast</a:t>
            </a:r>
            <a:r>
              <a:rPr lang="zh-CN" sz="1200" b="1">
                <a:solidFill>
                  <a:srgbClr val="3B82F6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152400" y="3771900"/>
            <a:ext cx="3533775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AVCastPicker / Controller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，远程经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sendControlCommand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控播，本地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fd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投远端。</a:t>
            </a:r>
            <a:endParaRPr/>
          </a:p>
        </p:txBody>
      </p:sp>
      <p:sp>
        <p:nvSpPr>
          <p:cNvPr id="196" name=""/>
          <p:cNvSpPr/>
          <p:nvPr/>
        </p:nvSpPr>
        <p:spPr>
          <a:xfrm rot="0" flipH="0" flipV="0">
            <a:off x="3990975" y="3371850"/>
            <a:ext cx="3838575" cy="1019175"/>
          </a:xfrm>
          <a:prstGeom prst="roundRect">
            <a:avLst>
              <a:gd name="adj" fmla="val 1121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4143375" y="3524250"/>
            <a:ext cx="35337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B82F6"/>
                </a:solidFill>
                <a:latin typeface="Microsoft YaHei"/>
                <a:ea typeface="Microsoft YaHei"/>
              </a:rPr>
              <a:t>桌面卡片（</a:t>
            </a:r>
            <a:r>
              <a:rPr lang="en-US" sz="1200" b="1">
                <a:solidFill>
                  <a:srgbClr val="3B82F6"/>
                </a:solidFill>
                <a:latin typeface="Microsoft YaHei"/>
                <a:ea typeface="Microsoft YaHei"/>
              </a:rPr>
              <a:t>FormKit</a:t>
            </a:r>
            <a:r>
              <a:rPr lang="zh-CN" sz="1200" b="1">
                <a:solidFill>
                  <a:srgbClr val="3B82F6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4143375" y="3771900"/>
            <a:ext cx="3533775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FormExtensionAbility + updateForm + postCardAction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，独立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form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进程回控。</a:t>
            </a:r>
            <a:endParaRPr/>
          </a:p>
        </p:txBody>
      </p:sp>
      <p:sp>
        <p:nvSpPr>
          <p:cNvPr id="199" name=""/>
          <p:cNvSpPr/>
          <p:nvPr/>
        </p:nvSpPr>
        <p:spPr>
          <a:xfrm rot="0" flipH="0" flipV="0">
            <a:off x="7981950" y="3371850"/>
            <a:ext cx="3848100" cy="1019175"/>
          </a:xfrm>
          <a:prstGeom prst="roundRect">
            <a:avLst>
              <a:gd name="adj" fmla="val 1121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8134350" y="3524250"/>
            <a:ext cx="3543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B82F6"/>
                </a:solidFill>
                <a:latin typeface="Microsoft YaHei"/>
                <a:ea typeface="Microsoft YaHei"/>
              </a:rPr>
              <a:t>收藏与设置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8134350" y="3771900"/>
            <a:ext cx="354330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收藏唯一权威源收口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MusicStore.favorites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；明暗主题、权限最小化。</a:t>
            </a:r>
            <a:endParaRPr/>
          </a:p>
        </p:txBody>
      </p:sp>
      <p:sp>
        <p:nvSpPr>
          <p:cNvPr id="202" name=""/>
          <p:cNvSpPr/>
          <p:nvPr/>
        </p:nvSpPr>
        <p:spPr>
          <a:xfrm rot="0" flipH="0" flipV="0">
            <a:off x="0" y="4524375"/>
            <a:ext cx="6019800" cy="91440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1638300" y="4905375"/>
            <a:ext cx="2752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【截图占位】关键功能代码片段（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NAPI / ArkTS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204" name=""/>
          <p:cNvSpPr/>
          <p:nvPr/>
        </p:nvSpPr>
        <p:spPr>
          <a:xfrm rot="0" flipH="0" flipV="0">
            <a:off x="6172200" y="4524375"/>
            <a:ext cx="6019800" cy="91440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7800975" y="4905375"/>
            <a:ext cx="2762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【截图占位】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AI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生成对话截图（含代码逻辑说明）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0" y="6515100"/>
            <a:ext cx="2085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VibeCoding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实践项目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 · Lumio Music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11772900" y="65151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06 / 14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208" name="" descr="&lt;Slide&gt;&#10;  &lt;Box style={{ flexDirection: 'row', alignItems: 'center', gap: 16, paddingHorizontal: 80, paddingTop: 30 }}&gt;&#10;    &lt;Box style={{ width: 6, height: 40, background: 'linear-gradient(180deg,#3B82F6,#06B6D4)', borderRadius: 3 }} /&gt;&#10;    &lt;Box style={{ flexDirection: 'column' }}&gt;&#10;      &lt;Text style={{ fontSize: 13, color: '#06B6D4', fontWeight: 'bold', letterSpacing: 2 }}&gt;MODULE 2.2 · VibeCoding 开发过程&lt;/Text&gt;&#10;      &lt;Text style={{ fontSize: 30, fontWeight: 'bold', color: '#1E293B' }}&gt;调试与问题解决记录&lt;/Text&gt;&#10;    &lt;/Box&gt;&#10;  &lt;/Box&gt;&#10;&#10;  &lt;Box style={{ flex: 1, flexDirection: 'column', justifyContent: 'center', paddingHorizontal: 80 }}&gt;&#10;    &lt;Box style={{ flexDirection: 'row', background: '#F8FAFC', border: '1px solid #E2E8F0', borderRadius: 12, padding: 18, marginBottom: 14 }}&gt;&#10;      &lt;Box style={{ width: 130 }}&gt;&#10;        &lt;Text style={{ fontSize: 15, fontWeight: 'bold', color: '#DC2626' }}&gt;构建崩溃&lt;/Text&gt;&#10;        &lt;Text style={{ fontSize: 12, color: '#94A3B8', marginTop: 4 }}&gt;build_hap.sh&lt;/Text&gt;&#10;      &lt;/Box&gt;&#10;      &lt;Box style={{ flex: 1 }}&gt;&#10;        &lt;Text style={{ fontSize: 14, color: '#475569', lineHeight: 1.6 }}&gt;&lt;Text style={{ fontWeight: 'bold', color: '#1E293B' }}&gt;问题：&lt;/Text&gt;hvigor PackageHap 报 0xC0000005 崩溃。&lt;/Text&gt;&#10;        &lt;Text style={{ fontSize: 14, color: '#475569', lineHeight: 1.6, marginTop: 4 }}&gt;&lt;Text style={{ fontWeight: 'bold', color: '#1E293B' }}&gt;AI 辅助方案：&lt;/Text&gt;定位到坏 Oracle JVM + NODE_OPTIONS hook 拦截清理；改用健康 JBR 并清空 NODE_OPTIONS。&lt;/Text&gt;&#10;        &lt;Text style={{ fontSize: 14, color: '#475569', lineHeight: 1.6, marginTop: 4 }}&gt;&lt;Text style={{ fontWeight: 'bold', color: '#16A34A' }}&gt;结果：&lt;/Text&gt;CLI 可稳定出签名 HAP，并沉淀为可复现脚本。&lt;/Text&gt;&#10;      &lt;/Box&gt;&#10;    &lt;/Box&gt;&#10;    &lt;Box style={{ flexDirection: 'row', background: '#F8FAFC', border: '1px solid #E2E8F0', borderRadius: 12, padding: 18, marginBottom: 14 }}&gt;&#10;      &lt;Box style={{ width: 130 }}&gt;&#10;        &lt;Text style={{ fontSize: 15, fontWeight: 'bold', color: '#DC2626' }}&gt;仓库损坏&lt;/Text&gt;&#10;        &lt;Text style={{ fontSize: 12, color: '#94A3B8', marginTop: 4 }}&gt;Git 对象库&lt;/Text&gt;&#10;      &lt;/Box&gt;&#10;      &lt;Box style={{ flex: 1 }}&gt;&#10;        &lt;Text style={{ fontSize: 14, color: '#475569', lineHeight: 1.6 }}&gt;&lt;Text style={{ fontWeight: 'bold', color: '#1E293B' }}&gt;问题：&lt;/Text&gt;本地对象库 ~108 个对象缺失，含关键 commit。&lt;/Text&gt;&#10;        &lt;Text style={{ fontSize: 14, color: '#475569', lineHeight: 1.6, marginTop: 4 }}&gt;&lt;Text style={{ fontWeight: 'bold', color: '#1E293B' }}&gt;AI 辅助方案：&lt;/Text&gt;先确认 origin 完好，再 git fetch + 引用重置恢复。&lt;/Text&gt;&#10;        &lt;Text style={{ fontSize: 14, color: '#475569', lineHeight: 1.6, marginTop: 4 }}&gt;&lt;Text style={{ fontWeight: 'bold', color: '#16A34A' }}&gt;结果：&lt;/Text&gt;仓库恢复可推送，避免重头重建。&lt;/Text&gt;&#10;      &lt;/Box&gt;&#10;    &lt;/Box&gt;&#10;    &lt;Box style={{ flexDirection: 'row', background: '#F8FAFC', border: '1px solid #E2E8F0', borderRadius: 12, padding: 18 }}&gt;&#10;      &lt;Box style={{ width: 130 }}&gt;&#10;        &lt;Text style={{ fontSize: 15, fontWeight: 'bold', color: '#DC2626' }}&gt;内存越界&lt;/Text&gt;&#10;        &lt;Text style={{ fontSize: 12, color: '#94A3B8', marginTop: 4 }}&gt;C++ P0×6&lt;/Text&gt;&#10;      &lt;/Box&gt;&#10;      &lt;Box style={{ flex: 1 }}&gt;&#10;        &lt;Text style={{ fontSize: 14, color: '#475569', lineHeight: 1.6 }}&gt;&lt;Text style={{ fontWeight: 'bold', color: '#1E293B' }}&gt;问题：&lt;/Text&gt;32 位长度回绕导致堆越界（reviewer 审查发现）。&lt;/Text&gt;&#10;        &lt;Text style={{ fontSize: 14, color: '#475569', lineHeight: 1.6, marginTop: 4 }}&gt;&lt;Text style={{ fontWeight: 'bold', color: '#1E293B' }}&gt;AI 辅助方案：&lt;/Text&gt;改用 size_t + uint64_t 做边界校验，逐处加固。&lt;/Text&gt;&#10;        &lt;Text style={{ fontSize: 14, color: '#475569', lineHeight: 1.6, marginTop: 4 }}&gt;&lt;Text style={{ fontWeight: 'bold', color: '#16A34A' }}&gt;结果：&lt;/Text&gt;6 个 P0 全部修复，输出代码审查报告闭环。&lt;/Text&gt;&#10;      &lt;/Box&gt;&#10;    &lt;/Box&gt;&#10;  &lt;/Box&gt;&#10;&#10;  &lt;Box style={{ position: 'absolute', bottom: 0, left: 0, right: 0, height: 56, paddingHorizontal: 80, flexDirection: 'row', justifyContent: 'space-between', alignItems: 'center' }}&gt;&#10;    &lt;Text style={{ fontSize: 13, color: '#94A3B8' }}&gt;VibeCoding 实践项目 · Lumio Music&lt;/Text&gt;&#10;    &lt;Text style={{ fontSize: 13, color: '#94A3B8' }}&gt;07 / 1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"/>
          <p:cNvSpPr/>
          <p:nvPr/>
        </p:nvSpPr>
        <p:spPr>
          <a:xfrm rot="0" flipH="0" flipV="0">
            <a:off x="0" y="342900"/>
            <a:ext cx="57150" cy="381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06B6D4"/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209550" y="285750"/>
            <a:ext cx="2714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50">
                <a:solidFill>
                  <a:srgbClr val="06B6D4"/>
                </a:solidFill>
                <a:latin typeface="Microsoft YaHei"/>
                <a:ea typeface="Microsoft YaHei"/>
              </a:rPr>
              <a:t>MODULE 2.2 · VibeCoding </a:t>
            </a:r>
            <a:r>
              <a:rPr lang="zh-CN" sz="975" b="1" spc="150">
                <a:solidFill>
                  <a:srgbClr val="06B6D4"/>
                </a:solidFill>
                <a:latin typeface="Microsoft YaHei"/>
                <a:ea typeface="Microsoft YaHei"/>
              </a:rPr>
              <a:t>开发过程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209550" y="438150"/>
            <a:ext cx="27146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E293B"/>
                </a:solidFill>
                <a:latin typeface="Microsoft YaHei"/>
                <a:ea typeface="Microsoft YaHei"/>
              </a:rPr>
              <a:t>调试与问题解决记录</a:t>
            </a:r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0" y="1905000"/>
            <a:ext cx="12192000" cy="1190625"/>
          </a:xfrm>
          <a:prstGeom prst="roundRect">
            <a:avLst>
              <a:gd name="adj" fmla="val 96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171450" y="2076450"/>
            <a:ext cx="1238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DC2626"/>
                </a:solidFill>
                <a:latin typeface="Microsoft YaHei"/>
                <a:ea typeface="Microsoft YaHei"/>
              </a:rPr>
              <a:t>构建崩溃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171450" y="2286000"/>
            <a:ext cx="1238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build_hap.sh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1409700" y="2076450"/>
            <a:ext cx="106108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问题：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hvigor PackageHap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报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0xC0000005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崩溃。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1409700" y="2371725"/>
            <a:ext cx="106108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AI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辅助方案：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定位到坏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Oracle JVM + NODE_OPTIONS hook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拦截清理；改用健康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JBR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并清空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NODE_OPTIONS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1409700" y="2667000"/>
            <a:ext cx="106108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结果：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CLI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可稳定出签名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HAP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，并沉淀为可复现脚本。</a:t>
            </a:r>
            <a:endParaRPr/>
          </a:p>
        </p:txBody>
      </p:sp>
      <p:sp>
        <p:nvSpPr>
          <p:cNvPr id="218" name=""/>
          <p:cNvSpPr/>
          <p:nvPr/>
        </p:nvSpPr>
        <p:spPr>
          <a:xfrm rot="0" flipH="0" flipV="0">
            <a:off x="0" y="3228975"/>
            <a:ext cx="12192000" cy="1190625"/>
          </a:xfrm>
          <a:prstGeom prst="roundRect">
            <a:avLst>
              <a:gd name="adj" fmla="val 96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171450" y="3400425"/>
            <a:ext cx="1238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DC2626"/>
                </a:solidFill>
                <a:latin typeface="Microsoft YaHei"/>
                <a:ea typeface="Microsoft YaHei"/>
              </a:rPr>
              <a:t>仓库损坏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171450" y="3609975"/>
            <a:ext cx="1238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Git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对象库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1409700" y="3400425"/>
            <a:ext cx="106108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问题：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本地对象库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~108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个对象缺失，含关键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commit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1409700" y="3695700"/>
            <a:ext cx="106108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AI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辅助方案：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先确认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origin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完好，再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git fetch +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引用重置恢复。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1409700" y="3990975"/>
            <a:ext cx="106108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结果：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仓库恢复可推送，避免重头重建。</a:t>
            </a:r>
            <a:endParaRPr/>
          </a:p>
        </p:txBody>
      </p:sp>
      <p:sp>
        <p:nvSpPr>
          <p:cNvPr id="224" name=""/>
          <p:cNvSpPr/>
          <p:nvPr/>
        </p:nvSpPr>
        <p:spPr>
          <a:xfrm rot="0" flipH="0" flipV="0">
            <a:off x="0" y="4552950"/>
            <a:ext cx="12192000" cy="1190625"/>
          </a:xfrm>
          <a:prstGeom prst="roundRect">
            <a:avLst>
              <a:gd name="adj" fmla="val 96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171450" y="4724400"/>
            <a:ext cx="1238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DC2626"/>
                </a:solidFill>
                <a:latin typeface="Microsoft YaHei"/>
                <a:ea typeface="Microsoft YaHei"/>
              </a:rPr>
              <a:t>内存越界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171450" y="4933950"/>
            <a:ext cx="1238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C++ P0×6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1409700" y="4724400"/>
            <a:ext cx="106108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问题：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32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位长度回绕导致堆越界（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reviewer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审查发现）。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1409700" y="5019675"/>
            <a:ext cx="106108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AI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辅助方案：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改用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size_t + uint64_t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做边界校验，逐处加固。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1409700" y="5314950"/>
            <a:ext cx="106108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结果：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6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个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P0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全部修复，输出代码审查报告闭环。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0" y="6515100"/>
            <a:ext cx="2085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VibeCoding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实践项目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 · Lumio Music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11772900" y="65151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07 / 14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232" name="" descr="&lt;Slide&gt;&#10;  &lt;Box style={{ flexDirection: 'row', alignItems: 'center', gap: 16, paddingHorizontal: 80, paddingTop: 30 }}&gt;&#10;    &lt;Box style={{ width: 6, height: 40, background: 'linear-gradient(180deg,#3B82F6,#06B6D4)', borderRadius: 3 }} /&gt;&#10;    &lt;Box style={{ flexDirection: 'column' }}&gt;&#10;      &lt;Text style={{ fontSize: 13, color: '#06B6D4', fontWeight: 'bold', letterSpacing: 2 }}&gt;MODULE 2.3 · 项目成果展示&lt;/Text&gt;&#10;      &lt;Text style={{ fontSize: 30, fontWeight: 'bold', color: '#1E293B' }}&gt;功能完整性验证&lt;/Text&gt;&#10;    &lt;/Box&gt;&#10;  &lt;/Box&gt;&#10;&#10;  &lt;Box style={{ flex: 1, flexDirection: 'column', justifyContent: 'center', paddingHorizontal: 80 }}&gt;&#10;    &lt;Text style={{ fontSize: 15, color: '#475569', lineHeight: 1.6, marginBottom: 14 }}&gt;核心功能均已在真机 / 模拟器运行验证，以下为运行效果佐证（截图待补）。每张截图标注功能说明与测试条件。&lt;/Text&gt;&#10;    &lt;Box style={{ flexDirection: 'row', gap: 16 }}&gt;&#10;      &lt;Box style={{ width: '24%', height: 200, border: '1px solid #CBD5E1', borderRadius: 12, alignItems: 'center', justifyContent: 'center', background: '#F1F5F9' }}&gt;&#10;        &lt;Text style={{ fontSize: 13, color: '#94A3B8', textAlign: 'center', paddingHorizontal: 8 }}&gt;【截图占位】{'\n'}歌曲列表 / 导入&lt;/Text&gt;&#10;      &lt;/Box&gt;&#10;      &lt;Box style={{ width: '24%', height: 200, border: '1px solid #CBD5E1', borderRadius: 12, alignItems: 'center', justifyContent: 'center', background: '#F1F5F9' }}&gt;&#10;        &lt;Text style={{ fontSize: 13, color: '#94A3B8', textAlign: 'center', paddingHorizontal: 8 }}&gt;【截图占位】{'\n'}播放页 / 歌词&lt;/Text&gt;&#10;      &lt;/Box&gt;&#10;      &lt;Box style={{ width: '24%', height: 200, border: '1px solid #CBD5E1', borderRadius: 12, alignItems: 'center', justifyContent: 'center', background: '#F1F5F9' }}&gt;&#10;        &lt;Text style={{ fontSize: 13, color: '#94A3B8', textAlign: 'center', paddingHorizontal: 8 }}&gt;【截图占位】{'\n'}投播 / 设备切换&lt;/Text&gt;&#10;      &lt;/Box&gt;&#10;      &lt;Box style={{ width: '24%', height: 200, border: '1px solid #CBD5E1', borderRadius: 12, alignItems: 'center', justifyContent: 'center', background: '#F1F5F9' }}&gt;&#10;        &lt;Text style={{ fontSize: 13, color: '#94A3B8', textAlign: 'center', paddingHorizontal: 8 }}&gt;【截图占位】{'\n'}桌面卡片&lt;/Text&gt;&#10;      &lt;/Box&gt;&#10;    &lt;/Box&gt;&#10;  &lt;/Box&gt;&#10;&#10;  &lt;Box style={{ position: 'absolute', bottom: 0, left: 0, right: 0, height: 56, paddingHorizontal: 80, flexDirection: 'row', justifyContent: 'space-between', alignItems: 'center' }}&gt;&#10;    &lt;Text style={{ fontSize: 13, color: '#94A3B8' }}&gt;VibeCoding 实践项目 · Lumio Music&lt;/Text&gt;&#10;    &lt;Text style={{ fontSize: 13, color: '#94A3B8' }}&gt;08 / 1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"/>
          <p:cNvSpPr/>
          <p:nvPr/>
        </p:nvSpPr>
        <p:spPr>
          <a:xfrm rot="0" flipH="0" flipV="0">
            <a:off x="0" y="342900"/>
            <a:ext cx="57150" cy="381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06B6D4"/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209550" y="285750"/>
            <a:ext cx="2028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50">
                <a:solidFill>
                  <a:srgbClr val="06B6D4"/>
                </a:solidFill>
                <a:latin typeface="Microsoft YaHei"/>
                <a:ea typeface="Microsoft YaHei"/>
              </a:rPr>
              <a:t>MODULE 2.3 · </a:t>
            </a:r>
            <a:r>
              <a:rPr lang="zh-CN" sz="975" b="1" spc="150">
                <a:solidFill>
                  <a:srgbClr val="06B6D4"/>
                </a:solidFill>
                <a:latin typeface="Microsoft YaHei"/>
                <a:ea typeface="Microsoft YaHei"/>
              </a:rPr>
              <a:t>项目成果展示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209550" y="438150"/>
            <a:ext cx="20288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E293B"/>
                </a:solidFill>
                <a:latin typeface="Microsoft YaHei"/>
                <a:ea typeface="Microsoft YaHei"/>
              </a:rPr>
              <a:t>功能完整性验证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0" y="2667000"/>
            <a:ext cx="121920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核心功能均已在真机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模拟器运行验证，以下为运行效果佐证（截图待补）。每张截图标注功能说明与测试条件。</a:t>
            </a:r>
            <a:endParaRPr/>
          </a:p>
        </p:txBody>
      </p:sp>
      <p:sp>
        <p:nvSpPr>
          <p:cNvPr id="237" name=""/>
          <p:cNvSpPr/>
          <p:nvPr/>
        </p:nvSpPr>
        <p:spPr>
          <a:xfrm rot="0" flipH="0" flipV="0">
            <a:off x="0" y="3076575"/>
            <a:ext cx="2924175" cy="1905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1028700" y="3876675"/>
            <a:ext cx="876300" cy="3048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【截图占位】</a:t>
            </a:r>
            <a:endParaRPr/>
          </a:p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歌曲列表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导入</a:t>
            </a:r>
            <a:endParaRPr/>
          </a:p>
        </p:txBody>
      </p:sp>
      <p:sp>
        <p:nvSpPr>
          <p:cNvPr id="239" name=""/>
          <p:cNvSpPr/>
          <p:nvPr/>
        </p:nvSpPr>
        <p:spPr>
          <a:xfrm rot="0" flipH="0" flipV="0">
            <a:off x="3076575" y="3076575"/>
            <a:ext cx="2924175" cy="1905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4162425" y="3876675"/>
            <a:ext cx="752475" cy="3048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【截图占位】</a:t>
            </a:r>
            <a:endParaRPr/>
          </a:p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播放页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歌词</a:t>
            </a:r>
            <a:endParaRPr/>
          </a:p>
        </p:txBody>
      </p:sp>
      <p:sp>
        <p:nvSpPr>
          <p:cNvPr id="241" name=""/>
          <p:cNvSpPr/>
          <p:nvPr/>
        </p:nvSpPr>
        <p:spPr>
          <a:xfrm rot="0" flipH="0" flipV="0">
            <a:off x="6153150" y="3076575"/>
            <a:ext cx="2933700" cy="1905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7181850" y="3876675"/>
            <a:ext cx="876300" cy="3048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【截图占位】</a:t>
            </a:r>
            <a:endParaRPr/>
          </a:p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投播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设备切换</a:t>
            </a:r>
            <a:endParaRPr/>
          </a:p>
        </p:txBody>
      </p:sp>
      <p:sp>
        <p:nvSpPr>
          <p:cNvPr id="243" name=""/>
          <p:cNvSpPr/>
          <p:nvPr/>
        </p:nvSpPr>
        <p:spPr>
          <a:xfrm rot="0" flipH="0" flipV="0">
            <a:off x="9239250" y="3076575"/>
            <a:ext cx="2924175" cy="1905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10334625" y="3876675"/>
            <a:ext cx="742950" cy="3048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【截图占位】</a:t>
            </a:r>
            <a:endParaRPr/>
          </a:p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桌面卡片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0" y="6515100"/>
            <a:ext cx="2085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VibeCoding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实践项目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 · Lumio Music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11772900" y="65151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08 / 14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247" name="" descr="&lt;Slide&gt;&#10;  &lt;Box style={{ flexDirection: 'row', alignItems: 'center', gap: 16, paddingHorizontal: 80, paddingTop: 30 }}&gt;&#10;    &lt;Box style={{ width: 6, height: 40, background: 'linear-gradient(180deg,#3B82F6,#06B6D4)', borderRadius: 3 }} /&gt;&#10;    &lt;Box style={{ flexDirection: 'column' }}&gt;&#10;      &lt;Text style={{ fontSize: 13, color: '#06B6D4', fontWeight: 'bold', letterSpacing: 2 }}&gt;MODULE 2.3 · 项目成果展示&lt;/Text&gt;&#10;      &lt;Text style={{ fontSize: 30, fontWeight: 'bold', color: '#1E293B' }}&gt;演示视频说明&lt;/Text&gt;&#10;    &lt;/Box&gt;&#10;  &lt;/Box&gt;&#10;&#10;  &lt;Box style={{ flex: 1, flexDirection: 'row', alignItems: 'center', paddingHorizontal: 80, gap: 28 }}&gt;&#10;    &lt;Box style={{ width: '44%', height: 280, border: '1px solid #CBD5E1', borderRadius: 12, alignItems: 'center', justifyContent: 'center', background: '#0F172A' }}&gt;&#10;      &lt;Text style={{ fontSize: 15, color: '#7DD3FC', textAlign: 'center' }}&gt;【视频占位】{'\n'}VibeCoding项目演示视频{'\n'}(MP4/MOV · 2–5 分钟 · 建议配字幕)&lt;/Text&gt;&#10;    &lt;/Box&gt;&#10;    &lt;Box style={{ width: '56%' }}&gt;&#10;      &lt;Text style={{ fontSize: 16, fontWeight: 'bold', color: '#1E293B', marginBottom: 12 }}&gt;视频内容结构（时长 2–5 分钟）&lt;/Text&gt;&#10;      &lt;Box style={{ flexDirection: 'row', alignItems: 'flex-start', gap: 10, marginBottom: 10 }}&gt;&#10;        &lt;Text style={{ fontSize: 14, fontWeight: 'bold', color: '#06B6D4' }}&gt;00:00–00:30&lt;/Text&gt;&#10;        &lt;Text style={{ fontSize: 14, color: '#475569', lineHeight: 1.5, flex: 1 }}&gt;项目介绍：选题、VibeCoding 方式、技术栈概览。&lt;/Text&gt;&#10;      &lt;/Box&gt;&#10;      &lt;Box style={{ flexDirection: 'row', alignItems: 'flex-start', gap: 10, marginBottom: 10 }}&gt;&#10;        &lt;Text style={{ fontSize: 14, fontWeight: 'bold', color: '#06B6D4' }}&gt;00:30–01:30&lt;/Text&gt;&#10;        &lt;Text style={{ fontSize: 14, color: '#475569', lineHeight: 1.5, flex: 1 }}&gt;元数据解析演示：导入本地歌曲，展示封面 / 歌词自动抽取。&lt;/Text&gt;&#10;      &lt;/Box&gt;&#10;      &lt;Box style={{ flexDirection: 'row', alignItems: 'flex-start', gap: 10, marginBottom: 10 }}&gt;&#10;        &lt;Text style={{ fontSize: 14, fontWeight: 'bold', color: '#06B6D4' }}&gt;01:30–03:00&lt;/Text&gt;&#10;        &lt;Text style={{ fontSize: 14, color: '#475569', lineHeight: 1.5, flex: 1 }}&gt;播放 / 投播：后台播放、队列、设备切换真实操作。&lt;/Text&gt;&#10;      &lt;/Box&gt;&#10;      &lt;Box style={{ flexDirection: 'row', alignItems: 'flex-start', gap: 10, marginBottom: 10 }}&gt;&#10;        &lt;Text style={{ fontSize: 14, fontWeight: 'bold', color: '#06B6D4' }}&gt;03:00–05:00&lt;/Text&gt;&#10;        &lt;Text style={{ fontSize: 14, color: '#475569', lineHeight: 1.5, flex: 1 }}&gt;桌面卡片与总结：卡片回控、AI 辅助编程过程回放。&lt;/Text&gt;&#10;      &lt;/Box&gt;&#10;      &lt;Text style={{ fontSize: 13, color: '#94A3B8', marginTop: 6, lineHeight: 1.5 }}&gt;说明：视频需真实录制项目运行效果，禁止无关视频或纯截图拼接。&lt;/Text&gt;&#10;    &lt;/Box&gt;&#10;  &lt;/Box&gt;&#10;&#10;  &lt;Box style={{ position: 'absolute', bottom: 0, left: 0, right: 0, height: 56, paddingHorizontal: 80, flexDirection: 'row', justifyContent: 'space-between', alignItems: 'center' }}&gt;&#10;    &lt;Text style={{ fontSize: 13, color: '#94A3B8' }}&gt;VibeCoding 实践项目 · Lumio Music&lt;/Text&gt;&#10;    &lt;Text style={{ fontSize: 13, color: '#94A3B8' }}&gt;09 / 1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"/>
          <p:cNvSpPr/>
          <p:nvPr/>
        </p:nvSpPr>
        <p:spPr>
          <a:xfrm rot="0" flipH="0" flipV="0">
            <a:off x="0" y="342900"/>
            <a:ext cx="57150" cy="381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06B6D4"/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209550" y="285750"/>
            <a:ext cx="2028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50">
                <a:solidFill>
                  <a:srgbClr val="06B6D4"/>
                </a:solidFill>
                <a:latin typeface="Microsoft YaHei"/>
                <a:ea typeface="Microsoft YaHei"/>
              </a:rPr>
              <a:t>MODULE 2.3 · </a:t>
            </a:r>
            <a:r>
              <a:rPr lang="zh-CN" sz="975" b="1" spc="150">
                <a:solidFill>
                  <a:srgbClr val="06B6D4"/>
                </a:solidFill>
                <a:latin typeface="Microsoft YaHei"/>
                <a:ea typeface="Microsoft YaHei"/>
              </a:rPr>
              <a:t>项目成果展示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209550" y="438150"/>
            <a:ext cx="20288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E293B"/>
                </a:solidFill>
                <a:latin typeface="Microsoft YaHei"/>
                <a:ea typeface="Microsoft YaHei"/>
              </a:rPr>
              <a:t>演示视频说明</a:t>
            </a:r>
            <a:endParaRPr/>
          </a:p>
        </p:txBody>
      </p:sp>
      <p:sp>
        <p:nvSpPr>
          <p:cNvPr id="251" name=""/>
          <p:cNvSpPr/>
          <p:nvPr/>
        </p:nvSpPr>
        <p:spPr>
          <a:xfrm rot="0" flipH="0" flipV="0">
            <a:off x="0" y="2486025"/>
            <a:ext cx="5248275" cy="2667000"/>
          </a:xfrm>
          <a:prstGeom prst="roundRect">
            <a:avLst>
              <a:gd name="adj" fmla="val 4286"/>
            </a:avLst>
          </a:prstGeom>
          <a:solidFill>
            <a:srgbClr val="0F172A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1447800" y="3562350"/>
            <a:ext cx="2352675" cy="514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125">
                <a:solidFill>
                  <a:srgbClr val="7DD3FC"/>
                </a:solidFill>
                <a:latin typeface="Microsoft YaHei"/>
                <a:ea typeface="Microsoft YaHei"/>
              </a:rPr>
              <a:t>【视频占位】</a:t>
            </a:r>
            <a:endParaRPr/>
          </a:p>
          <a:p>
            <a:pPr algn="ctr">
              <a:lnSpc>
                <a:spcPct val="100000"/>
              </a:lnSpc>
            </a:pPr>
            <a:r>
              <a:rPr lang="en-US" sz="1125">
                <a:solidFill>
                  <a:srgbClr val="7DD3FC"/>
                </a:solidFill>
                <a:latin typeface="Microsoft YaHei"/>
                <a:ea typeface="Microsoft YaHei"/>
              </a:rPr>
              <a:t>VibeCoding</a:t>
            </a:r>
            <a:r>
              <a:rPr lang="zh-CN" sz="1125">
                <a:solidFill>
                  <a:srgbClr val="7DD3FC"/>
                </a:solidFill>
                <a:latin typeface="Microsoft YaHei"/>
                <a:ea typeface="Microsoft YaHei"/>
              </a:rPr>
              <a:t>项目演示视频</a:t>
            </a:r>
            <a:endParaRPr/>
          </a:p>
          <a:p>
            <a:pPr algn="ctr">
              <a:lnSpc>
                <a:spcPct val="100000"/>
              </a:lnSpc>
            </a:pPr>
            <a:r>
              <a:rPr lang="en-US" sz="1125">
                <a:solidFill>
                  <a:srgbClr val="7DD3FC"/>
                </a:solidFill>
                <a:latin typeface="Microsoft YaHei"/>
                <a:ea typeface="Microsoft YaHei"/>
              </a:rPr>
              <a:t>(MP4/MOV · 2–5 </a:t>
            </a:r>
            <a:r>
              <a:rPr lang="zh-CN" sz="1125">
                <a:solidFill>
                  <a:srgbClr val="7DD3FC"/>
                </a:solidFill>
                <a:latin typeface="Microsoft YaHei"/>
                <a:ea typeface="Microsoft YaHei"/>
              </a:rPr>
              <a:t>分钟</a:t>
            </a:r>
            <a:r>
              <a:rPr lang="en-US" sz="1125">
                <a:solidFill>
                  <a:srgbClr val="7DD3FC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7DD3FC"/>
                </a:solidFill>
                <a:latin typeface="Microsoft YaHei"/>
                <a:ea typeface="Microsoft YaHei"/>
              </a:rPr>
              <a:t>建议配字幕</a:t>
            </a:r>
            <a:r>
              <a:rPr lang="en-US" sz="1125">
                <a:solidFill>
                  <a:srgbClr val="7DD3FC"/>
                </a:solidFill>
                <a:latin typeface="Microsoft YaHei"/>
                <a:ea typeface="Microsoft YaHei"/>
              </a:rPr>
              <a:t>)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5514975" y="2838450"/>
            <a:ext cx="6677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293B"/>
                </a:solidFill>
                <a:latin typeface="Microsoft YaHei"/>
                <a:ea typeface="Microsoft YaHei"/>
              </a:rPr>
              <a:t>视频内容结构（时长</a:t>
            </a:r>
            <a:r>
              <a:rPr lang="en-US" sz="1200" b="1">
                <a:solidFill>
                  <a:srgbClr val="1E293B"/>
                </a:solidFill>
                <a:latin typeface="Microsoft YaHei"/>
                <a:ea typeface="Microsoft YaHei"/>
              </a:rPr>
              <a:t> 2–5 </a:t>
            </a:r>
            <a:r>
              <a:rPr lang="zh-CN" sz="1200" b="1">
                <a:solidFill>
                  <a:srgbClr val="1E293B"/>
                </a:solidFill>
                <a:latin typeface="Microsoft YaHei"/>
                <a:ea typeface="Microsoft YaHei"/>
              </a:rPr>
              <a:t>分钟）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5514975" y="3143250"/>
            <a:ext cx="809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6B6D4"/>
                </a:solidFill>
                <a:latin typeface="Microsoft YaHei"/>
                <a:ea typeface="Microsoft YaHei"/>
              </a:rPr>
              <a:t>00:00–00:30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6419850" y="3143250"/>
            <a:ext cx="57721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项目介绍：选题、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VibeCoding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方式、技术栈概览。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5514975" y="3486150"/>
            <a:ext cx="809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6B6D4"/>
                </a:solidFill>
                <a:latin typeface="Microsoft YaHei"/>
                <a:ea typeface="Microsoft YaHei"/>
              </a:rPr>
              <a:t>00:30–01:30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6419850" y="3486150"/>
            <a:ext cx="57721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元数据解析演示：导入本地歌曲，展示封面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歌词自动抽取。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5514975" y="3829050"/>
            <a:ext cx="809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6B6D4"/>
                </a:solidFill>
                <a:latin typeface="Microsoft YaHei"/>
                <a:ea typeface="Microsoft YaHei"/>
              </a:rPr>
              <a:t>01:30–03:00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6419850" y="3829050"/>
            <a:ext cx="57721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播放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投播：后台播放、队列、设备切换真实操作。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5514975" y="4171950"/>
            <a:ext cx="809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6B6D4"/>
                </a:solidFill>
                <a:latin typeface="Microsoft YaHei"/>
                <a:ea typeface="Microsoft YaHei"/>
              </a:rPr>
              <a:t>03:00–05:00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6419850" y="4171950"/>
            <a:ext cx="57721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桌面卡片与总结：卡片回控、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AI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辅助编程过程回放。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5514975" y="4572000"/>
            <a:ext cx="6677025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说明：视频需真实录制项目运行效果，禁止无关视频或纯截图拼接。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0" y="6515100"/>
            <a:ext cx="2085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VibeCoding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实践项目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 · Lumio Music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11772900" y="65151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09 / 14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1" name="" descr="&lt;Slide&gt;&#10;  &lt;Box style={{ flexDirection: 'row', alignItems: 'center', gap: 16, paddingHorizontal: 80, paddingTop: 30 }}&gt;&#10;    &lt;Box style={{ width: 6, height: 40, background: 'linear-gradient(180deg,#3B82F6,#06B6D4)', borderRadius: 3 }} /&gt;&#10;    &lt;Box style={{ flexDirection: 'column' }}&gt;&#10;      &lt;Text style={{ fontSize: 13, color: '#06B6D4', fontWeight: 'bold', letterSpacing: 2 }}&gt;MODULE 2.3 · 项目成果展示&lt;/Text&gt;&#10;      &lt;Text style={{ fontSize: 30, fontWeight: 'bold', color: '#1E293B' }}&gt;界面 / 交互设计说明&lt;/Text&gt;&#10;    &lt;/Box&gt;&#10;  &lt;/Box&gt;&#10;&#10;  &lt;Box style={{ flex: 1, flexDirection: 'row', alignItems: 'center', paddingHorizontal: 80, gap: 28 }}&gt;&#10;    &lt;Box style={{ width: '44%', height: 300, border: '1px solid #CBD5E1', borderRadius: 12, alignItems: 'center', justifyContent: 'center', background: '#F1F5F9' }}&gt;&#10;      &lt;Text style={{ fontSize: 14, color: '#94A3B8', textAlign: 'center' }}&gt;【截图占位】{'\n'}最终界面（明 / 暗主题、播放页、列表页）&lt;/Text&gt;&#10;    &lt;/Box&gt;&#10;    &lt;Box style={{ width: '56%' }}&gt;&#10;      &lt;Text style={{ fontSize: 16, fontWeight: 'bold', color: '#1E293B', marginBottom: 8 }}&gt;设计思路与交互逻辑&lt;/Text&gt;&#10;      &lt;Text style={{ fontSize: 14, color: '#475569', lineHeight: 1.65, marginBottom: 12 }}&gt;沉浸式全屏 + 明暗主题自适应；以导航栈（NavDestination）组织页面，播放列表支持拖拽排序（onMove），设置页以 Sheet 内嵌分页承载层级导航。&lt;/Text&gt;&#10;      &lt;Text style={{ fontSize: 16, fontWeight: 'bold', color: '#1E293B', marginBottom: 8 }}&gt;用户体验优化点&lt;/Text&gt;&#10;      &lt;Box style={{ flexDirection: 'row', alignItems: 'flex-start', gap: 10, marginBottom: 8 }}&gt;&#10;        &lt;Text style={{ fontSize: 14, fontWeight: 'bold', color: '#06B6D4' }}&gt;·&lt;/Text&gt;&#10;        &lt;Text style={{ fontSize: 14, color: '#475569', lineHeight: 1.5, flex: 1 }}&gt;封面懒加载与刷新信号（coverRefreshToken），导入 / 重启后正确重绘。&lt;/Text&gt;&#10;      &lt;/Box&gt;&#10;      &lt;Box style={{ flexDirection: 'row', alignItems: 'flex-start', gap: 10, marginBottom: 8 }}&gt;&#10;        &lt;Text style={{ fontSize: 14, fontWeight: 'bold', color: '#06B6D4' }}&gt;·&lt;/Text&gt;&#10;        &lt;Text style={{ fontSize: 14, color: '#475569', lineHeight: 1.5, flex: 1 }}&gt;大字模式无障碍、字号变更实时刷新。&lt;/Text&gt;&#10;      &lt;/Box&gt;&#10;      &lt;Box style={{ flexDirection: 'row', alignItems: 'flex-start', gap: 10 }}&gt;&#10;        &lt;Text style={{ fontSize: 14, fontWeight: 'bold', color: '#06B6D4' }}&gt;·&lt;/Text&gt;&#10;        &lt;Text style={{ fontSize: 14, color: '#475569', lineHeight: 1.5, flex: 1 }}&gt;空态 FAB 可见性、Tab 切换数据刷新等细节打磨。&lt;/Text&gt;&#10;      &lt;/Box&gt;&#10;    &lt;/Box&gt;&#10;  &lt;/Box&gt;&#10;&#10;  &lt;Box style={{ position: 'absolute', bottom: 0, left: 0, right: 0, height: 56, paddingHorizontal: 80, flexDirection: 'row', justifyContent: 'space-between', alignItems: 'center' }}&gt;&#10;    &lt;Text style={{ fontSize: 13, color: '#94A3B8' }}&gt;VibeCoding 实践项目 · Lumio Music&lt;/Text&gt;&#10;    &lt;Text style={{ fontSize: 13, color: '#94A3B8' }}&gt;10 / 1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/>
        </p:nvSpPr>
        <p:spPr>
          <a:xfrm rot="0" flipH="0" flipV="0">
            <a:off x="0" y="342900"/>
            <a:ext cx="57150" cy="381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06B6D4"/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209550" y="285750"/>
            <a:ext cx="26003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50">
                <a:solidFill>
                  <a:srgbClr val="06B6D4"/>
                </a:solidFill>
                <a:latin typeface="Microsoft YaHei"/>
                <a:ea typeface="Microsoft YaHei"/>
              </a:rPr>
              <a:t>MODULE 2.3 · </a:t>
            </a:r>
            <a:r>
              <a:rPr lang="zh-CN" sz="975" b="1" spc="150">
                <a:solidFill>
                  <a:srgbClr val="06B6D4"/>
                </a:solidFill>
                <a:latin typeface="Microsoft YaHei"/>
                <a:ea typeface="Microsoft YaHei"/>
              </a:rPr>
              <a:t>项目成果展示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209550" y="438150"/>
            <a:ext cx="26003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E293B"/>
                </a:solidFill>
                <a:latin typeface="Microsoft YaHei"/>
                <a:ea typeface="Microsoft YaHei"/>
              </a:rPr>
              <a:t>界面</a:t>
            </a:r>
            <a:r>
              <a:rPr lang="en-US" sz="2250" b="1">
                <a:solidFill>
                  <a:srgbClr val="1E293B"/>
                </a:solidFill>
                <a:latin typeface="Microsoft YaHei"/>
                <a:ea typeface="Microsoft YaHei"/>
              </a:rPr>
              <a:t> / </a:t>
            </a:r>
            <a:r>
              <a:rPr lang="zh-CN" sz="2250" b="1">
                <a:solidFill>
                  <a:srgbClr val="1E293B"/>
                </a:solidFill>
                <a:latin typeface="Microsoft YaHei"/>
                <a:ea typeface="Microsoft YaHei"/>
              </a:rPr>
              <a:t>交互设计说明</a:t>
            </a:r>
            <a:endParaRPr/>
          </a:p>
        </p:txBody>
      </p:sp>
      <p:sp>
        <p:nvSpPr>
          <p:cNvPr id="15" name=""/>
          <p:cNvSpPr/>
          <p:nvPr/>
        </p:nvSpPr>
        <p:spPr>
          <a:xfrm rot="0" flipH="0" flipV="0">
            <a:off x="0" y="2390775"/>
            <a:ext cx="5248275" cy="28575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1352550" y="3657600"/>
            <a:ext cx="2543175" cy="3238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【截图占位】</a:t>
            </a:r>
            <a:endParaRPr/>
          </a:p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最终界面（明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暗主题、播放页、列表页）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5514975" y="2781300"/>
            <a:ext cx="6677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293B"/>
                </a:solidFill>
                <a:latin typeface="Microsoft YaHei"/>
                <a:ea typeface="Microsoft YaHei"/>
              </a:rPr>
              <a:t>设计思路与交互逻辑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5514975" y="3048000"/>
            <a:ext cx="667702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沉浸式全屏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+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明暗主题自适应；以导航栈（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NavDestination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）组织页面，播放列表支持拖拽排序（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onMove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），设置页以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Sheet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内嵌分页承载层级导航。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5514975" y="3695700"/>
            <a:ext cx="6677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293B"/>
                </a:solidFill>
                <a:latin typeface="Microsoft YaHei"/>
                <a:ea typeface="Microsoft YaHei"/>
              </a:rPr>
              <a:t>用户体验优化点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5514975" y="3962400"/>
            <a:ext cx="66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06B6D4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5676900" y="3962400"/>
            <a:ext cx="65151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封面懒加载与刷新信号（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coverRefreshToken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），导入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重启后正确重绘。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5514975" y="4286250"/>
            <a:ext cx="66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06B6D4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5676900" y="4286250"/>
            <a:ext cx="65151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大字模式无障碍、字号变更实时刷新。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5514975" y="4610100"/>
            <a:ext cx="66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06B6D4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5676900" y="4610100"/>
            <a:ext cx="65151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空态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FAB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可见性、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Tab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切换数据刷新等细节打磨。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0" y="6515100"/>
            <a:ext cx="2085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VibeCoding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实践项目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 · Lumio Music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11772900" y="65151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10 / 14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28" name="" descr="&lt;Slide&gt;&#10;  &lt;Box style={{ flexDirection: 'row', alignItems: 'center', gap: 16, paddingHorizontal: 80, paddingTop: 30 }}&gt;&#10;    &lt;Box style={{ width: 6, height: 40, background: 'linear-gradient(180deg,#3B82F6,#06B6D4)', borderRadius: 3 }} /&gt;&#10;    &lt;Box style={{ flexDirection: 'column' }}&gt;&#10;      &lt;Text style={{ fontSize: 13, color: '#06B6D4', fontWeight: 'bold', letterSpacing: 2 }}&gt;MODULE 2.4 · 方法论总结&lt;/Text&gt;&#10;      &lt;Text style={{ fontSize: 30, fontWeight: 'bold', color: '#1E293B' }}&gt;VibeCoding 方法论总结&lt;/Text&gt;&#10;    &lt;/Box&gt;&#10;  &lt;/Box&gt;&#10;&#10;  &lt;Box style={{ flex: 1, flexDirection: 'row', alignItems: 'center', paddingHorizontal: 80, gap: 24 }}&gt;&#10;    &lt;Box style={{ width: '32%', background: '#F8FAFC', border: '1px solid #E2E8F0', borderRadius: 14, padding: 22 }}&gt;&#10;      &lt;Text style={{ fontSize: 17, fontWeight: 'bold', color: '#3B82F6' }}&gt;Prompt 工程经验&lt;/Text&gt;&#10;      &lt;Text style={{ fontSize: 14, color: '#475569', marginTop: 10, lineHeight: 1.65 }}&gt;结构化描述、分步拆解、上下文补充；让 AI 先列方案再落地；把审查反馈作为下一轮 Prompt，形成迭代闭环。&lt;/Text&gt;&#10;    &lt;/Box&gt;&#10;    &lt;Box style={{ width: '32%', background: '#F8FAFC', border: '1px solid #E2E8F0', borderRadius: 14, padding: 22 }}&gt;&#10;      &lt;Text style={{ fontSize: 17, fontWeight: 'bold', color: '#3B82F6' }}&gt;效率对比&lt;/Text&gt;&#10;      &lt;Text style={{ fontSize: 14, color: '#475569', marginTop: 10, lineHeight: 1.65 }}&gt;对比传统编程：需求→原型更快、样板代码省时、跨语言协作更顺；但生成代码需审查兜底，复杂约束下仍要人工把关。&lt;/Text&gt;&#10;    &lt;/Box&gt;&#10;    &lt;Box style={{ width: '32%', background: '#F8FAFC', border: '1px solid #E2E8F0', borderRadius: 14, padding: 22 }}&gt;&#10;      &lt;Text style={{ fontSize: 17, fontWeight: 'bold', color: '#3B82F6' }}&gt;改进空间与反思&lt;/Text&gt;&#10;      &lt;Text style={{ fontSize: 14, color: '#475569', marginTop: 10, lineHeight: 1.65 }}&gt;AI 生成需验真，不可盲目信任；跨文件一致性、文档沉淀是短板；后续应更早建立测试与可复现环境。&lt;/Text&gt;&#10;    &lt;/Box&gt;&#10;  &lt;/Box&gt;&#10;&#10;  &lt;Box style={{ position: 'absolute', bottom: 0, left: 0, right: 0, height: 56, paddingHorizontal: 80, flexDirection: 'row', justifyContent: 'space-between', alignItems: 'center' }}&gt;&#10;    &lt;Text style={{ fontSize: 13, color: '#94A3B8' }}&gt;VibeCoding 实践项目 · Lumio Music&lt;/Text&gt;&#10;    &lt;Text style={{ fontSize: 13, color: '#94A3B8' }}&gt;11 / 1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"/>
          <p:cNvSpPr/>
          <p:nvPr/>
        </p:nvSpPr>
        <p:spPr>
          <a:xfrm rot="0" flipH="0" flipV="0">
            <a:off x="0" y="342900"/>
            <a:ext cx="57150" cy="381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06B6D4"/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209550" y="285750"/>
            <a:ext cx="3190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50">
                <a:solidFill>
                  <a:srgbClr val="06B6D4"/>
                </a:solidFill>
                <a:latin typeface="Microsoft YaHei"/>
                <a:ea typeface="Microsoft YaHei"/>
              </a:rPr>
              <a:t>MODULE 2.4 · </a:t>
            </a:r>
            <a:r>
              <a:rPr lang="zh-CN" sz="975" b="1" spc="150">
                <a:solidFill>
                  <a:srgbClr val="06B6D4"/>
                </a:solidFill>
                <a:latin typeface="Microsoft YaHei"/>
                <a:ea typeface="Microsoft YaHei"/>
              </a:rPr>
              <a:t>方法论总结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209550" y="438150"/>
            <a:ext cx="31908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E293B"/>
                </a:solidFill>
                <a:latin typeface="Microsoft YaHei"/>
                <a:ea typeface="Microsoft YaHei"/>
              </a:rPr>
              <a:t>VibeCoding </a:t>
            </a:r>
            <a:r>
              <a:rPr lang="zh-CN" sz="2250" b="1">
                <a:solidFill>
                  <a:srgbClr val="1E293B"/>
                </a:solidFill>
                <a:latin typeface="Microsoft YaHei"/>
                <a:ea typeface="Microsoft YaHei"/>
              </a:rPr>
              <a:t>方法论总结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0" y="3200400"/>
            <a:ext cx="3905250" cy="1247775"/>
          </a:xfrm>
          <a:prstGeom prst="roundRect">
            <a:avLst>
              <a:gd name="adj" fmla="val 1068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209550" y="3409950"/>
            <a:ext cx="3486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3B82F6"/>
                </a:solidFill>
                <a:latin typeface="Microsoft YaHei"/>
                <a:ea typeface="Microsoft YaHei"/>
              </a:rPr>
              <a:t>Prompt </a:t>
            </a:r>
            <a:r>
              <a:rPr lang="zh-CN" sz="1275" b="1">
                <a:solidFill>
                  <a:srgbClr val="3B82F6"/>
                </a:solidFill>
                <a:latin typeface="Microsoft YaHei"/>
                <a:ea typeface="Microsoft YaHei"/>
              </a:rPr>
              <a:t>工程经验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209550" y="3705225"/>
            <a:ext cx="34861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结构化描述、分步拆解、上下文补充；让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AI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先列方案再落地；把审查反馈作为下一轮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Prompt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，形成迭代闭环。</a:t>
            </a:r>
            <a:endParaRPr/>
          </a:p>
        </p:txBody>
      </p:sp>
      <p:sp>
        <p:nvSpPr>
          <p:cNvPr id="35" name=""/>
          <p:cNvSpPr/>
          <p:nvPr/>
        </p:nvSpPr>
        <p:spPr>
          <a:xfrm rot="0" flipH="0" flipV="0">
            <a:off x="4133850" y="3067050"/>
            <a:ext cx="3895725" cy="1514475"/>
          </a:xfrm>
          <a:prstGeom prst="roundRect">
            <a:avLst>
              <a:gd name="adj" fmla="val 880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4343400" y="3276600"/>
            <a:ext cx="3476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3B82F6"/>
                </a:solidFill>
                <a:latin typeface="Microsoft YaHei"/>
                <a:ea typeface="Microsoft YaHei"/>
              </a:rPr>
              <a:t>效率对比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4343400" y="3571875"/>
            <a:ext cx="3476625" cy="800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对比传统编程：需求→原型更快、样板代码省时、跨语言协作更顺；但生成代码需审查兜底，复杂约束下仍要人工把关。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8258175" y="3200400"/>
            <a:ext cx="3905250" cy="1247775"/>
          </a:xfrm>
          <a:prstGeom prst="roundRect">
            <a:avLst>
              <a:gd name="adj" fmla="val 1068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8467725" y="3409950"/>
            <a:ext cx="3486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3B82F6"/>
                </a:solidFill>
                <a:latin typeface="Microsoft YaHei"/>
                <a:ea typeface="Microsoft YaHei"/>
              </a:rPr>
              <a:t>改进空间与反思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8467725" y="3705225"/>
            <a:ext cx="34861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AI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生成需验真，不可盲目信任；跨文件一致性、文档沉淀是短板；后续应更早建立测试与可复现环境。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0" y="6515100"/>
            <a:ext cx="2085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VibeCoding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实践项目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 · Lumio Music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11772900" y="65151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11 / 14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43" name="" descr="&lt;Slide&gt;&#10;  &lt;Box style={{ flexDirection: 'row', alignItems: 'center', gap: 16, paddingHorizontal: 80, paddingTop: 30 }}&gt;&#10;    &lt;Box style={{ width: 6, height: 40, background: 'linear-gradient(180deg,#3B82F6,#06B6D4)', borderRadius: 3 }} /&gt;&#10;    &lt;Box style={{ flexDirection: 'column' }}&gt;&#10;      &lt;Text style={{ fontSize: 13, color: '#06B6D4', fontWeight: 'bold', letterSpacing: 2 }}&gt;MODULE 2.5 · 技术创新点&lt;/Text&gt;&#10;      &lt;Text style={{ fontSize: 30, fontWeight: 'bold', color: '#1E293B' }}&gt;技术创新点&lt;/Text&gt;&#10;    &lt;/Box&gt;&#10;  &lt;/Box&gt;&#10;&#10;  &lt;Box style={{ flex: 1, flexDirection: 'column', justifyContent: 'center', paddingHorizontal: 80 }}&gt;&#10;    &lt;Box style={{ flexDirection: 'row', background: '#F8FAFC', border: '1px solid #E2E8F0', borderRadius: 12, padding: 18, marginBottom: 14 }}&gt;&#10;      &lt;Box style={{ width: 150 }}&gt;&#10;        &lt;Text style={{ fontSize: 16, fontWeight: 'bold', color: '#7C3AED' }}&gt;多 Agent 评审闭环&lt;/Text&gt;&#10;      &lt;/Box&gt;&#10;      &lt;Box style={{ flex: 1 }}&gt;&#10;        &lt;Text style={{ fontSize: 14, color: '#475569', lineHeight: 1.6 }}&gt;&lt;Text style={{ fontWeight: 'bold', color: '#1E293B' }}&gt;思路：&lt;/Text&gt;规划 / 开发 / 审查三角色协作，把「我觉得对」变成「有证据的对」。&lt;/Text&gt;&#10;        &lt;Text style={{ fontSize: 14, color: '#475569', lineHeight: 1.6, marginTop: 4 }}&gt;&lt;Text style={{ fontWeight: 'bold', color: '#1E293B' }}&gt;效果：&lt;/Text&gt;发现并修复 6 个 C++ P0，沟通成本显著降低。&lt;/Text&gt;&#10;      &lt;/Box&gt;&#10;    &lt;/Box&gt;&#10;    &lt;Box style={{ flexDirection: 'row', background: '#F8FAFC', border: '1px solid #E2E8F0', borderRadius: 12, padding: 18, marginBottom: 14 }}&gt;&#10;      &lt;Box style={{ width: 150 }}&gt;&#10;        &lt;Text style={{ fontSize: 16, fontWeight: 'bold', color: '#7C3AED' }}&gt;NAPI 真实解析兜底&lt;/Text&gt;&#10;      &lt;/Box&gt;&#10;      &lt;Box style={{ flex: 1 }}&gt;&#10;        &lt;Text style={{ fontSize: 14, color: '#475569', lineHeight: 1.6 }}&gt;&lt;Text style={{ fontWeight: 'bold', color: '#1E293B' }}&gt;思路：&lt;/Text&gt;MediaKit 优先 + 自研 C++ NAPI 真实解析双路，离线无网仍可用。&lt;/Text&gt;&#10;        &lt;Text style={{ fontSize: 14, color: '#475569', lineHeight: 1.6, marginTop: 4 }}&gt;&lt;Text style={{ fontWeight: 'bold', color: '#1E293B' }}&gt;效果：&lt;/Text&gt;覆盖 FLAC/MP3/MP4 三格式，不依赖云端元数据。&lt;/Text&gt;&#10;      &lt;/Box&gt;&#10;    &lt;/Box&gt;&#10;    &lt;Box style={{ flexDirection: 'row', background: '#F8FAFC', border: '1px solid #E2E8F0', borderRadius: 12, padding: 18 }}&gt;&#10;      &lt;Box style={{ width: 150 }}&gt;&#10;        &lt;Text style={{ fontSize: 16, fontWeight: 'bold', color: '#7C3AED' }}&gt;Git 仓库自修复&lt;/Text&gt;&#10;      &lt;/Box&gt;&#10;      &lt;Box style={{ flex: 1 }}&gt;&#10;        &lt;Text style={{ fontSize: 14, color: '#475569', lineHeight: 1.6 }}&gt;&lt;Text style={{ fontWeight: 'bold', color: '#1E293B' }}&gt;思路：&lt;/Text&gt;对象库损坏自动诊断 + 引用重置，无需人工重建。&lt;/Text&gt;&#10;        &lt;Text style={{ fontSize: 14, color: '#475569', lineHeight: 1.6, marginTop: 4 }}&gt;&lt;Text style={{ fontWeight: 'bold', color: '#1E293B' }}&gt;效果：&lt;/Text&gt;~108 缺失对象快速恢复，仓库可继续推送。&lt;/Text&gt;&#10;      &lt;/Box&gt;&#10;    &lt;/Box&gt;&#10;    &lt;Box style={{ width: '100%', height: 78, border: '1px solid #CBD5E1', borderRadius: 12, alignItems: 'center', justifyContent: 'center', background: '#F1F5F9', marginTop: 14 }}&gt;&#10;      &lt;Text style={{ fontSize: 13, color: '#94A3B8' }}&gt;【对比图占位】创新点前后对比（如：修复前后崩溃率 / 解析成功率）&lt;/Text&gt;&#10;    &lt;/Box&gt;&#10;  &lt;/Box&gt;&#10;&#10;  &lt;Box style={{ position: 'absolute', bottom: 0, left: 0, right: 0, height: 56, paddingHorizontal: 80, flexDirection: 'row', justifyContent: 'space-between', alignItems: 'center' }}&gt;&#10;    &lt;Text style={{ fontSize: 13, color: '#94A3B8' }}&gt;VibeCoding 实践项目 · Lumio Music&lt;/Text&gt;&#10;    &lt;Text style={{ fontSize: 13, color: '#94A3B8' }}&gt;12 / 1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"/>
          <p:cNvSpPr/>
          <p:nvPr/>
        </p:nvSpPr>
        <p:spPr>
          <a:xfrm rot="0" flipH="0" flipV="0">
            <a:off x="0" y="342900"/>
            <a:ext cx="57150" cy="381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06B6D4"/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209550" y="285750"/>
            <a:ext cx="1885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50">
                <a:solidFill>
                  <a:srgbClr val="06B6D4"/>
                </a:solidFill>
                <a:latin typeface="Microsoft YaHei"/>
                <a:ea typeface="Microsoft YaHei"/>
              </a:rPr>
              <a:t>MODULE 2.5 · </a:t>
            </a:r>
            <a:r>
              <a:rPr lang="zh-CN" sz="975" b="1" spc="150">
                <a:solidFill>
                  <a:srgbClr val="06B6D4"/>
                </a:solidFill>
                <a:latin typeface="Microsoft YaHei"/>
                <a:ea typeface="Microsoft YaHei"/>
              </a:rPr>
              <a:t>技术创新点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209550" y="438150"/>
            <a:ext cx="18859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E293B"/>
                </a:solidFill>
                <a:latin typeface="Microsoft YaHei"/>
                <a:ea typeface="Microsoft YaHei"/>
              </a:rPr>
              <a:t>技术创新点</a:t>
            </a:r>
            <a:endParaRPr/>
          </a:p>
        </p:txBody>
      </p:sp>
      <p:sp>
        <p:nvSpPr>
          <p:cNvPr id="47" name=""/>
          <p:cNvSpPr/>
          <p:nvPr/>
        </p:nvSpPr>
        <p:spPr>
          <a:xfrm rot="0" flipH="0" flipV="0">
            <a:off x="0" y="1905000"/>
            <a:ext cx="12192000" cy="895350"/>
          </a:xfrm>
          <a:prstGeom prst="roundRect">
            <a:avLst>
              <a:gd name="adj" fmla="val 1276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171450" y="2076450"/>
            <a:ext cx="1428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7C3AED"/>
                </a:solidFill>
                <a:latin typeface="Microsoft YaHei"/>
                <a:ea typeface="Microsoft YaHei"/>
              </a:rPr>
              <a:t>多</a:t>
            </a:r>
            <a:r>
              <a:rPr lang="en-US" sz="1200" b="1">
                <a:solidFill>
                  <a:srgbClr val="7C3AED"/>
                </a:solidFill>
                <a:latin typeface="Microsoft YaHei"/>
                <a:ea typeface="Microsoft YaHei"/>
              </a:rPr>
              <a:t> Agent </a:t>
            </a:r>
            <a:r>
              <a:rPr lang="zh-CN" sz="1200" b="1">
                <a:solidFill>
                  <a:srgbClr val="7C3AED"/>
                </a:solidFill>
                <a:latin typeface="Microsoft YaHei"/>
                <a:ea typeface="Microsoft YaHei"/>
              </a:rPr>
              <a:t>评审闭环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1600200" y="2076450"/>
            <a:ext cx="104203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思路：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规划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开发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审查三角色协作，把「我觉得对」变成「有证据的对」。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1600200" y="2371725"/>
            <a:ext cx="104203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效果：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发现并修复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6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个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C++ P0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，沟通成本显著降低。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0" y="2933700"/>
            <a:ext cx="12192000" cy="895350"/>
          </a:xfrm>
          <a:prstGeom prst="roundRect">
            <a:avLst>
              <a:gd name="adj" fmla="val 1276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171450" y="3105150"/>
            <a:ext cx="1428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7C3AED"/>
                </a:solidFill>
                <a:latin typeface="Microsoft YaHei"/>
                <a:ea typeface="Microsoft YaHei"/>
              </a:rPr>
              <a:t>NAPI </a:t>
            </a:r>
            <a:r>
              <a:rPr lang="zh-CN" sz="1200" b="1">
                <a:solidFill>
                  <a:srgbClr val="7C3AED"/>
                </a:solidFill>
                <a:latin typeface="Microsoft YaHei"/>
                <a:ea typeface="Microsoft YaHei"/>
              </a:rPr>
              <a:t>真实解析兜底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1600200" y="3105150"/>
            <a:ext cx="104203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思路：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MediaKit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优先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+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自研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C++ NAPI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真实解析双路，离线无网仍可用。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1600200" y="3400425"/>
            <a:ext cx="104203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效果：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覆盖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FLAC/MP3/MP4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三格式，不依赖云端元数据。</a:t>
            </a:r>
            <a:endParaRPr/>
          </a:p>
        </p:txBody>
      </p:sp>
      <p:sp>
        <p:nvSpPr>
          <p:cNvPr id="55" name=""/>
          <p:cNvSpPr/>
          <p:nvPr/>
        </p:nvSpPr>
        <p:spPr>
          <a:xfrm rot="0" flipH="0" flipV="0">
            <a:off x="0" y="3962400"/>
            <a:ext cx="12192000" cy="895350"/>
          </a:xfrm>
          <a:prstGeom prst="roundRect">
            <a:avLst>
              <a:gd name="adj" fmla="val 1276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171450" y="4133850"/>
            <a:ext cx="1428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7C3AED"/>
                </a:solidFill>
                <a:latin typeface="Microsoft YaHei"/>
                <a:ea typeface="Microsoft YaHei"/>
              </a:rPr>
              <a:t>Git </a:t>
            </a:r>
            <a:r>
              <a:rPr lang="zh-CN" sz="1200" b="1">
                <a:solidFill>
                  <a:srgbClr val="7C3AED"/>
                </a:solidFill>
                <a:latin typeface="Microsoft YaHei"/>
                <a:ea typeface="Microsoft YaHei"/>
              </a:rPr>
              <a:t>仓库自修复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1600200" y="4133850"/>
            <a:ext cx="104203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思路：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对象库损坏自动诊断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 +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引用重置，无需人工重建。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1600200" y="4429125"/>
            <a:ext cx="104203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效果：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~108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缺失对象快速恢复，仓库可继续推送。</a:t>
            </a:r>
            <a:endParaRPr/>
          </a:p>
        </p:txBody>
      </p:sp>
      <p:sp>
        <p:nvSpPr>
          <p:cNvPr id="59" name=""/>
          <p:cNvSpPr/>
          <p:nvPr/>
        </p:nvSpPr>
        <p:spPr>
          <a:xfrm rot="0" flipH="0" flipV="0">
            <a:off x="0" y="4991100"/>
            <a:ext cx="12192000" cy="742950"/>
          </a:xfrm>
          <a:prstGeom prst="roundRect">
            <a:avLst>
              <a:gd name="adj" fmla="val 15385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4171950" y="5286375"/>
            <a:ext cx="3848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【对比图占位】创新点前后对比（如：修复前后崩溃率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解析成功率）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0" y="6515100"/>
            <a:ext cx="2085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VibeCoding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实践项目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 · Lumio Music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11772900" y="65151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12 / 14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63" name="" descr="&lt;Slide&gt;&#10;  &lt;Box style={{ flexDirection: 'row', alignItems: 'center', gap: 16, paddingHorizontal: 80, paddingTop: 30 }}&gt;&#10;    &lt;Box style={{ width: 6, height: 40, background: 'linear-gradient(180deg,#3B82F6,#06B6D4)', borderRadius: 3 }} /&gt;&#10;    &lt;Box style={{ flexDirection: 'column' }}&gt;&#10;      &lt;Text style={{ fontSize: 13, color: '#06B6D4', fontWeight: 'bold', letterSpacing: 2 }}&gt;MODULE 扩展任务（15 分）&lt;/Text&gt;&#10;      &lt;Text style={{ fontSize: 30, fontWeight: 'bold', color: '#1E293B' }}&gt;扩展任务：完整用户文档&lt;/Text&gt;&#10;    &lt;/Box&gt;&#10;  &lt;/Box&gt;&#10;&#10;  &lt;Box style={{ flex: 1, flexDirection: 'column', justifyContent: 'center', paddingHorizontal: 80 }}&gt;&#10;    &lt;Box style={{ background: '#FFF7ED', border: '1px solid #FED7AA', borderRadius: 12, padding: 16, marginBottom: 16 }}&gt;&#10;      &lt;Text style={{ fontSize: 15, fontWeight: 'bold', color: '#C2410C' }}&gt;所选扩展任务&lt;/Text&gt;&#10;      &lt;Text style={{ fontSize: 14, color: '#9A3412', lineHeight: 1.6, marginTop: 6 }}&gt;为项目编写完整的用户文档（使用手册 / README）：结构清晰、图文并茂，具备实际交付价值。&lt;/Text&gt;&#10;    &lt;/Box&gt;&#10;    &lt;Box style={{ flexDirection: 'row', gap: 16 }}&gt;&#10;      &lt;Box style={{ width: '32%', background: '#F8FAFC', border: '1px solid #E2E8F0', borderRadius: 12, padding: 18 }}&gt;&#10;        &lt;Text style={{ fontSize: 15, fontWeight: 'bold', color: '#3B82F6' }}&gt;实现过程&lt;/Text&gt;&#10;        &lt;Text style={{ fontSize: 13, color: '#475569', marginTop: 8, lineHeight: 1.6 }}&gt;VibeCoding 方式生成文档骨架，再补项目专属说明（权限、构建、目录结构）。&lt;/Text&gt;&#10;      &lt;/Box&gt;&#10;      &lt;Box style={{ width: '32%', background: '#F8FAFC', border: '1px solid #E2E8F0', borderRadius: 12, padding: 18 }}&gt;&#10;        &lt;Text style={{ fontSize: 15, fontWeight: 'bold', color: '#3B82F6' }}&gt;结果&lt;/Text&gt;&#10;        &lt;Text style={{ fontSize: 13, color: '#475569', marginTop: 8, lineHeight: 1.6 }}&gt;产出 README + 使用手册，含安装、导入、投播、卡片等图文步骤。&lt;/Text&gt;&#10;      &lt;/Box&gt;&#10;      &lt;Box style={{ width: '32%', background: '#F8FAFC', border: '1px solid #E2E8F0', borderRadius: 12, padding: 18 }}&gt;&#10;        &lt;Text style={{ fontSize: 15, fontWeight: 'bold', color: '#3B82F6' }}&gt;分析&lt;/Text&gt;&#10;        &lt;Text style={{ fontSize: 13, color: '#475569', marginTop: 8, lineHeight: 1.6 }}&gt;文档与代码同步沉淀，降低他人接手成本，提升项目可维护性。&lt;/Text&gt;&#10;      &lt;/Box&gt;&#10;    &lt;/Box&gt;&#10;    &lt;Box style={{ width: '100%', height: 96, border: '1px solid #CBD5E1', borderRadius: 12, alignItems: 'center', justifyContent: 'center', background: '#F1F5F9', marginTop: 16 }}&gt;&#10;      &lt;Text style={{ fontSize: 13, color: '#94A3B8' }}&gt;【佐证占位】README / 使用手册截图或文档导出件&lt;/Text&gt;&#10;    &lt;/Box&gt;&#10;  &lt;/Box&gt;&#10;&#10;  &lt;Box style={{ position: 'absolute', bottom: 0, left: 0, right: 0, height: 56, paddingHorizontal: 80, flexDirection: 'row', justifyContent: 'space-between', alignItems: 'center' }}&gt;&#10;    &lt;Text style={{ fontSize: 13, color: '#94A3B8' }}&gt;VibeCoding 实践项目 · Lumio Music&lt;/Text&gt;&#10;    &lt;Text style={{ fontSize: 13, color: '#94A3B8' }}&gt;13 / 1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"/>
          <p:cNvSpPr/>
          <p:nvPr/>
        </p:nvSpPr>
        <p:spPr>
          <a:xfrm rot="0" flipH="0" flipV="0">
            <a:off x="0" y="342900"/>
            <a:ext cx="57150" cy="381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06B6D4"/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209550" y="285750"/>
            <a:ext cx="3143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50">
                <a:solidFill>
                  <a:srgbClr val="06B6D4"/>
                </a:solidFill>
                <a:latin typeface="Microsoft YaHei"/>
                <a:ea typeface="Microsoft YaHei"/>
              </a:rPr>
              <a:t>MODULE </a:t>
            </a:r>
            <a:r>
              <a:rPr lang="zh-CN" sz="975" b="1" spc="150">
                <a:solidFill>
                  <a:srgbClr val="06B6D4"/>
                </a:solidFill>
                <a:latin typeface="Microsoft YaHei"/>
                <a:ea typeface="Microsoft YaHei"/>
              </a:rPr>
              <a:t>扩展任务（</a:t>
            </a:r>
            <a:r>
              <a:rPr lang="en-US" sz="975" b="1" spc="150">
                <a:solidFill>
                  <a:srgbClr val="06B6D4"/>
                </a:solidFill>
                <a:latin typeface="Microsoft YaHei"/>
                <a:ea typeface="Microsoft YaHei"/>
              </a:rPr>
              <a:t>15 </a:t>
            </a:r>
            <a:r>
              <a:rPr lang="zh-CN" sz="975" b="1" spc="150">
                <a:solidFill>
                  <a:srgbClr val="06B6D4"/>
                </a:solidFill>
                <a:latin typeface="Microsoft YaHei"/>
                <a:ea typeface="Microsoft YaHei"/>
              </a:rPr>
              <a:t>分）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209550" y="438150"/>
            <a:ext cx="31432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E293B"/>
                </a:solidFill>
                <a:latin typeface="Microsoft YaHei"/>
                <a:ea typeface="Microsoft YaHei"/>
              </a:rPr>
              <a:t>扩展任务：完整用户文档</a:t>
            </a:r>
            <a:endParaRPr/>
          </a:p>
        </p:txBody>
      </p:sp>
      <p:sp>
        <p:nvSpPr>
          <p:cNvPr id="67" name=""/>
          <p:cNvSpPr/>
          <p:nvPr/>
        </p:nvSpPr>
        <p:spPr>
          <a:xfrm rot="0" flipH="0" flipV="0">
            <a:off x="0" y="2286000"/>
            <a:ext cx="12192000" cy="790575"/>
          </a:xfrm>
          <a:prstGeom prst="roundRect">
            <a:avLst>
              <a:gd name="adj" fmla="val 14458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p/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152400" y="2438400"/>
            <a:ext cx="11887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2410C"/>
                </a:solidFill>
                <a:latin typeface="Microsoft YaHei"/>
                <a:ea typeface="Microsoft YaHei"/>
              </a:rPr>
              <a:t>所选扩展任务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152400" y="2667000"/>
            <a:ext cx="118872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9A3412"/>
                </a:solidFill>
                <a:latin typeface="Microsoft YaHei"/>
                <a:ea typeface="Microsoft YaHei"/>
              </a:rPr>
              <a:t>为项目编写完整的用户文档（使用手册</a:t>
            </a:r>
            <a:r>
              <a:rPr lang="en-US" sz="1050">
                <a:solidFill>
                  <a:srgbClr val="9A3412"/>
                </a:solidFill>
                <a:latin typeface="Microsoft YaHei"/>
                <a:ea typeface="Microsoft YaHei"/>
              </a:rPr>
              <a:t> / README</a:t>
            </a:r>
            <a:r>
              <a:rPr lang="zh-CN" sz="1050">
                <a:solidFill>
                  <a:srgbClr val="9A3412"/>
                </a:solidFill>
                <a:latin typeface="Microsoft YaHei"/>
                <a:ea typeface="Microsoft YaHei"/>
              </a:rPr>
              <a:t>）：结构清晰、图文并茂，具备实际交付价值。</a:t>
            </a:r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0" y="3228975"/>
            <a:ext cx="3905250" cy="1066800"/>
          </a:xfrm>
          <a:prstGeom prst="roundRect">
            <a:avLst>
              <a:gd name="adj" fmla="val 107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171450" y="3400425"/>
            <a:ext cx="3562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3B82F6"/>
                </a:solidFill>
                <a:latin typeface="Microsoft YaHei"/>
                <a:ea typeface="Microsoft YaHei"/>
              </a:rPr>
              <a:t>实现过程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171450" y="3648075"/>
            <a:ext cx="356235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VibeCoding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方式生成文档骨架，再补项目专属说明（权限、构建、目录结构）。</a:t>
            </a:r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4057650" y="3228975"/>
            <a:ext cx="3895725" cy="1066800"/>
          </a:xfrm>
          <a:prstGeom prst="roundRect">
            <a:avLst>
              <a:gd name="adj" fmla="val 107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4229100" y="3400425"/>
            <a:ext cx="35528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3B82F6"/>
                </a:solidFill>
                <a:latin typeface="Microsoft YaHei"/>
                <a:ea typeface="Microsoft YaHei"/>
              </a:rPr>
              <a:t>结果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4229100" y="3648075"/>
            <a:ext cx="3552825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产出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README + </a:t>
            </a: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使用手册，含安装、导入、投播、卡片等图文步骤。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8105775" y="3228975"/>
            <a:ext cx="3905250" cy="1066800"/>
          </a:xfrm>
          <a:prstGeom prst="roundRect">
            <a:avLst>
              <a:gd name="adj" fmla="val 107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8277225" y="3400425"/>
            <a:ext cx="3562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3B82F6"/>
                </a:solidFill>
                <a:latin typeface="Microsoft YaHei"/>
                <a:ea typeface="Microsoft YaHei"/>
              </a:rPr>
              <a:t>分析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8277225" y="3648075"/>
            <a:ext cx="356235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文档与代码同步沉淀，降低他人接手成本，提升项目可维护性。</a:t>
            </a:r>
            <a:endParaRPr/>
          </a:p>
        </p:txBody>
      </p:sp>
      <p:sp>
        <p:nvSpPr>
          <p:cNvPr id="79" name=""/>
          <p:cNvSpPr/>
          <p:nvPr/>
        </p:nvSpPr>
        <p:spPr>
          <a:xfrm rot="0" flipH="0" flipV="0">
            <a:off x="0" y="4448175"/>
            <a:ext cx="12192000" cy="91440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4657725" y="4829175"/>
            <a:ext cx="2876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【佐证占位】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README /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使用手册截图或文档导出件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0" y="6515100"/>
            <a:ext cx="2085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VibeCoding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实践项目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 · Lumio Music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11772900" y="65151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13 / 14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83" name="" descr="&lt;Slide&gt;&#10;  &lt;Box style={{ position: 'absolute', top: 0, left: 0, right: 0, bottom: 0, background: 'linear-gradient(135deg,#0F172A 0%, #1E3A8A 55%, #0E7490 100%)' }} /&gt;&#10;  &lt;Box style={{ position: 'absolute', top: 0, left: 0, right: 0, bottom: 0, flexDirection: 'column', justifyContent: 'center', alignItems: 'center', paddingHorizontal: 100 }}&gt;&#10;    &lt;Text style={{ fontSize: 18, color: '#7DD3FC', letterSpacing: 3, fontWeight: 'bold' }}&gt;THANK YOU&lt;/Text&gt;&#10;    &lt;Text style={{ fontSize: 34, color: '#FFFFFF', fontWeight: 'bold', marginTop: 14, textAlign: 'center' }}&gt;Vibe Coding 不是让 AI 替你思考，&lt;/Text&gt;&#10;    &lt;Text style={{ fontSize: 34, color: '#FFFFFF', fontWeight: 'bold', marginTop: 6, textAlign: 'center' }}&gt;而是让思考更快落地。&lt;/Text&gt;&#10;    &lt;Box style={{ marginTop: 30, flexDirection: 'row', alignItems: 'center', gap: 12 }}&gt;&#10;      &lt;Box style={{ paddingHorizontal: 16, paddingVertical: 8, background: 'rgba(255,255,255,0.10)', border: '1px solid rgba(255,255,255,0.25)', borderRadius: 20 }}&gt;&#10;        &lt;Text style={{ fontSize: 15, color: '#E0F2FE' }}&gt;开源：github.com/a703201/Lumio_Music&lt;/Text&gt;&#10;      &lt;/Box&gt;&#10;    &lt;/Box&gt;&#10;    &lt;Text style={{ fontSize: 14, color: '#94A3B8', marginTop: 24 }}&gt;main / Beta 双分支 · 独立完成 · 何宇翔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72A"/>
              </a:gs>
              <a:gs pos="55000">
                <a:srgbClr val="1E3A8A"/>
              </a:gs>
              <a:gs pos="100000">
                <a:srgbClr val="0E749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5429250" y="2419350"/>
            <a:ext cx="13430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 spc="225">
                <a:solidFill>
                  <a:srgbClr val="7DD3FC"/>
                </a:solidFill>
                <a:latin typeface="Microsoft YaHei"/>
                <a:ea typeface="Microsoft YaHei"/>
              </a:rPr>
              <a:t>THANK YOU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3486150" y="2762250"/>
            <a:ext cx="5229225" cy="3905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2550" b="1">
                <a:solidFill>
                  <a:srgbClr val="FFFFFF"/>
                </a:solidFill>
                <a:latin typeface="Microsoft YaHei"/>
                <a:ea typeface="Microsoft YaHei"/>
              </a:rPr>
              <a:t>Vibe Coding </a:t>
            </a: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不是让</a:t>
            </a:r>
            <a:r>
              <a:rPr lang="en-US" sz="2550" b="1">
                <a:solidFill>
                  <a:srgbClr val="FFFFFF"/>
                </a:solidFill>
                <a:latin typeface="Microsoft YaHei"/>
                <a:ea typeface="Microsoft YaHei"/>
              </a:rPr>
              <a:t> AI </a:t>
            </a: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替你思考，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4476750" y="3209925"/>
            <a:ext cx="3238500" cy="3905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而是让思考更快落地。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4695825" y="3886200"/>
            <a:ext cx="2809875" cy="171450"/>
          </a:xfrm>
          <a:prstGeom prst="roundRect">
            <a:avLst>
              <a:gd name="adj" fmla="val 11111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4695825" y="3886200"/>
            <a:ext cx="2809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0F2FE"/>
                </a:solidFill>
                <a:latin typeface="Microsoft YaHei"/>
                <a:ea typeface="Microsoft YaHei"/>
              </a:rPr>
              <a:t>开源：</a:t>
            </a:r>
            <a:r>
              <a:rPr lang="en-US" sz="1125">
                <a:solidFill>
                  <a:srgbClr val="E0F2FE"/>
                </a:solidFill>
                <a:latin typeface="Microsoft YaHei"/>
                <a:ea typeface="Microsoft YaHei"/>
              </a:rPr>
              <a:t>github.com/a703201/Lumio_Music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4933950" y="4286250"/>
            <a:ext cx="2333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main / Beta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双分支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独立完成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何宇翔</a:t>
            </a:r>
            <a:endParaRPr/>
          </a:p>
        </p:txBody>
      </p:sp>
    </p:spTree>
  </p:cSld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鸿蒙全流程专家团 · 9 角色协作</a:t>
            </a:r>
          </a:p>
        </p:txBody>
      </p:sp>
      <p:pic>
        <p:nvPicPr>
          <p:cNvPr id="3" name="Picture 2" descr="clipboard-2026-08-14T08-18-43-239Z-1459f09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0562" y="777240"/>
            <a:ext cx="7970875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AI 协作执行路径 · NFR 品质工程 + 审查</a:t>
            </a:r>
          </a:p>
        </p:txBody>
      </p:sp>
      <p:pic>
        <p:nvPicPr>
          <p:cNvPr id="3" name="Picture 2" descr="PixPin_2026-08-14_16-14-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6955" y="777240"/>
            <a:ext cx="7878089" cy="5669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2026-08-14T16:09:32Z</dcterms:created>
  <dcterms:modified xsi:type="dcterms:W3CDTF">2026-08-14T16:09:32Z</dcterms:modified>
</cp:coreProperties>
</file>